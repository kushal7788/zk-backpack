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e33bfe2aa08451a" /><Relationship Type="http://schemas.openxmlformats.org/officeDocument/2006/relationships/extended-properties" Target="/docProps/app.xml" Id="Raa76a9460f5647e5" /><Relationship Type="http://schemas.openxmlformats.org/officeDocument/2006/relationships/officeDocument" Target="/ppt/presentation.xml" Id="R0fb906ed11f1489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b65f322b1bd4483"/>
  </p:sldMasterIdLst>
  <p:notesMasterIdLst>
    <p:notesMasterId xmlns:r="http://schemas.openxmlformats.org/officeDocument/2006/relationships" r:id="R914af8eceb044b75"/>
  </p:notesMasterIdLst>
  <p:sldIdLst>
    <p:sldId xmlns:r="http://schemas.openxmlformats.org/officeDocument/2006/relationships" id="256" r:id="R7234f0fee86b411d"/>
    <p:sldId xmlns:r="http://schemas.openxmlformats.org/officeDocument/2006/relationships" id="257" r:id="Reece261d61484bf1"/>
    <p:sldId xmlns:r="http://schemas.openxmlformats.org/officeDocument/2006/relationships" id="258" r:id="R25fbd6d1323c4c92"/>
    <p:sldId xmlns:r="http://schemas.openxmlformats.org/officeDocument/2006/relationships" id="259" r:id="R59742121d4944b80"/>
    <p:sldId xmlns:r="http://schemas.openxmlformats.org/officeDocument/2006/relationships" id="260" r:id="Rd748274aa18e4598"/>
    <p:sldId xmlns:r="http://schemas.openxmlformats.org/officeDocument/2006/relationships" id="261" r:id="R37e2b8cbd8d4437e"/>
  </p:sldIdLst>
  <p:sldSz cx="9144000" cy="5143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65f322b1bd4483" /><Relationship Type="http://schemas.openxmlformats.org/officeDocument/2006/relationships/theme" Target="/ppt/theme/theme1.xml" Id="R5c53be678b6d4293" /><Relationship Type="http://schemas.openxmlformats.org/officeDocument/2006/relationships/notesMaster" Target="/ppt/notesMasters/notesMaster1.xml" Id="R914af8eceb044b75" /><Relationship Type="http://schemas.openxmlformats.org/officeDocument/2006/relationships/presProps" Target="/ppt/presProps.xml" Id="R49989abeaf5c4fff" /><Relationship Type="http://schemas.openxmlformats.org/officeDocument/2006/relationships/viewProps" Target="/ppt/viewProps.xml" Id="R7e709ae76a514fc4" /><Relationship Type="http://schemas.openxmlformats.org/officeDocument/2006/relationships/tableStyles" Target="/ppt/tableStyles.xml" Id="R1307fccf2063452d" /><Relationship Type="http://schemas.openxmlformats.org/officeDocument/2006/relationships/slide" Target="/ppt/slides/slide1.xml" Id="R7234f0fee86b411d" /><Relationship Type="http://schemas.openxmlformats.org/officeDocument/2006/relationships/slide" Target="/ppt/slides/slide2.xml" Id="Reece261d61484bf1" /><Relationship Type="http://schemas.openxmlformats.org/officeDocument/2006/relationships/slide" Target="/ppt/slides/slide3.xml" Id="R25fbd6d1323c4c92" /><Relationship Type="http://schemas.openxmlformats.org/officeDocument/2006/relationships/slide" Target="/ppt/slides/slide4.xml" Id="R59742121d4944b80" /><Relationship Type="http://schemas.openxmlformats.org/officeDocument/2006/relationships/slide" Target="/ppt/slides/slide5.xml" Id="Rd748274aa18e4598" /><Relationship Type="http://schemas.openxmlformats.org/officeDocument/2006/relationships/slide" Target="/ppt/slides/slide6.xml" Id="R37e2b8cbd8d4437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6c30034b2e8a4d6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61126d1e93c483d" /><Relationship Type="http://schemas.openxmlformats.org/officeDocument/2006/relationships/notesMaster" Target="/ppt/notesMasters/notesMaster1.xml" Id="R2bc5a96559464d8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d83747333a94ad5" /><Relationship Type="http://schemas.openxmlformats.org/officeDocument/2006/relationships/notesMaster" Target="/ppt/notesMasters/notesMaster1.xml" Id="Ra1c521a3791b422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899b53390074589" /><Relationship Type="http://schemas.openxmlformats.org/officeDocument/2006/relationships/notesMaster" Target="/ppt/notesMasters/notesMaster1.xml" Id="R58ff4daed17d4e7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5d89f0ba8ba43cf" /><Relationship Type="http://schemas.openxmlformats.org/officeDocument/2006/relationships/notesMaster" Target="/ppt/notesMasters/notesMaster1.xml" Id="Rb844b16b46d842d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36202072ca14ae6" /><Relationship Type="http://schemas.openxmlformats.org/officeDocument/2006/relationships/notesMaster" Target="/ppt/notesMasters/notesMaster1.xml" Id="Rb39130bb07e5405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1779b67ec4442e8" /><Relationship Type="http://schemas.openxmlformats.org/officeDocument/2006/relationships/notesMaster" Target="/ppt/notesMasters/notesMaster1.xml" Id="R83bbdabc749d4f4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cdeb1319f1417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0e0eac5bd143b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52669646a34d8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963915f5f44cd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94b832f1824ab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0aef015655462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bb07626d3541a2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00e6e9dbd9493e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7f0f87591549ad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62b44bc37c49df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ed76f3af944d4e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cd3705ec7540ff" /></Relationships>
</file>

<file path=ppt/slideLayouts/slideLayout1.xml><?xml version="1.0" encoding="utf-8"?>
<p:sldLayout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2">
            <a:extLst xmlns:a="http://schemas.openxmlformats.org/drawingml/2006/main">
              <a:ext uri="{FF2B5EF4-FFF2-40B4-BE49-F238E27FC236}">
                <a16:creationId xmlns:a16="http://schemas.microsoft.com/office/drawing/2014/main" id="{16932562-3F43-40A8-88B9-9320EC8AFEC1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311708" y="744575"/>
            <a:ext cx="8520600" cy="20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5200"/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5200"/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5200"/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5200"/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5200"/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5200"/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5200"/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5200"/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5200"/>
            </a:lvl9pPr>
          </a:lstStyle>
          <a:p xmlns:a="http://schemas.openxmlformats.org/drawingml/2006/main"/>
        </p:txBody>
      </p:sp>
      <p:sp>
        <p:nvSpPr>
          <p:cNvPr id="11" name="Google Shape;11;p2">
            <a:extLst xmlns:a="http://schemas.openxmlformats.org/drawingml/2006/main">
              <a:ext uri="{FF2B5EF4-FFF2-40B4-BE49-F238E27FC236}">
                <a16:creationId xmlns:a16="http://schemas.microsoft.com/office/drawing/2014/main" id="{65AC5D79-B29F-46F8-AFC7-54BB43280C5A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311700" y="2834125"/>
            <a:ext cx="8520600" cy="79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 xmlns:a="http://schemas.openxmlformats.org/drawingml/2006/main"/>
        </p:txBody>
      </p:sp>
      <p:sp>
        <p:nvSpPr>
          <p:cNvPr id="12" name="Google Shape;12;p2">
            <a:extLst xmlns:a="http://schemas.openxmlformats.org/drawingml/2006/main">
              <a:ext uri="{FF2B5EF4-FFF2-40B4-BE49-F238E27FC236}">
                <a16:creationId xmlns:a16="http://schemas.microsoft.com/office/drawing/2014/main" id="{D0106E56-555D-44FF-862A-DA27714DF8B1}"/>
              </a:ext>
            </a:extLst>
          </p:cNvPr>
          <p:cNvSpPr/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Google Shape;14;p3">
            <a:extLst xmlns:a="http://schemas.openxmlformats.org/drawingml/2006/main">
              <a:ext uri="{FF2B5EF4-FFF2-40B4-BE49-F238E27FC236}">
                <a16:creationId xmlns:a16="http://schemas.microsoft.com/office/drawing/2014/main" id="{4707D3F8-E881-4F80-A30F-F5A87A885F65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311700" y="2150850"/>
            <a:ext cx="8520600" cy="84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 xmlns:a="http://schemas.openxmlformats.org/drawingml/2006/main"/>
        </p:txBody>
      </p:sp>
      <p:sp>
        <p:nvSpPr>
          <p:cNvPr id="15" name="Google Shape;15;p3">
            <a:extLst xmlns:a="http://schemas.openxmlformats.org/drawingml/2006/main">
              <a:ext uri="{FF2B5EF4-FFF2-40B4-BE49-F238E27FC236}">
                <a16:creationId xmlns:a16="http://schemas.microsoft.com/office/drawing/2014/main" id="{B129781E-A64B-4AF5-A9EC-0460A87FB5C7}"/>
              </a:ext>
            </a:extLst>
          </p:cNvPr>
          <p:cNvSpPr/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oogle Shape;17;p4">
            <a:extLst xmlns:a="http://schemas.openxmlformats.org/drawingml/2006/main">
              <a:ext uri="{FF2B5EF4-FFF2-40B4-BE49-F238E27FC236}">
                <a16:creationId xmlns:a16="http://schemas.microsoft.com/office/drawing/2014/main" id="{790FC892-981B-4BB9-A7C3-8A2284CE5A3A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8" name="Google Shape;18;p4">
            <a:extLst xmlns:a="http://schemas.openxmlformats.org/drawingml/2006/main">
              <a:ext uri="{FF2B5EF4-FFF2-40B4-BE49-F238E27FC236}">
                <a16:creationId xmlns:a16="http://schemas.microsoft.com/office/drawing/2014/main" id="{FB8093ED-1BED-4A3A-A813-93A5E38FDB19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9" name="Google Shape;19;p4">
            <a:extLst xmlns:a="http://schemas.openxmlformats.org/drawingml/2006/main">
              <a:ext uri="{FF2B5EF4-FFF2-40B4-BE49-F238E27FC236}">
                <a16:creationId xmlns:a16="http://schemas.microsoft.com/office/drawing/2014/main" id="{D86C4D4C-61E2-48DE-AFD6-C17B2BDA0966}"/>
              </a:ext>
            </a:extLst>
          </p:cNvPr>
          <p:cNvSpPr/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_AND_TWO_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oogle Shape;21;p5">
            <a:extLst xmlns:a="http://schemas.openxmlformats.org/drawingml/2006/main">
              <a:ext uri="{FF2B5EF4-FFF2-40B4-BE49-F238E27FC236}">
                <a16:creationId xmlns:a16="http://schemas.microsoft.com/office/drawing/2014/main" id="{98F28566-1B3C-4740-AE50-13095986AA35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Google Shape;22;p5">
            <a:extLst xmlns:a="http://schemas.openxmlformats.org/drawingml/2006/main">
              <a:ext uri="{FF2B5EF4-FFF2-40B4-BE49-F238E27FC236}">
                <a16:creationId xmlns:a16="http://schemas.microsoft.com/office/drawing/2014/main" id="{474DC275-E33C-4E1C-971B-F03274EA1E0A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3117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3" name="Google Shape;23;p5">
            <a:extLst xmlns:a="http://schemas.openxmlformats.org/drawingml/2006/main">
              <a:ext uri="{FF2B5EF4-FFF2-40B4-BE49-F238E27FC236}">
                <a16:creationId xmlns:a16="http://schemas.microsoft.com/office/drawing/2014/main" id="{4DDD44D1-B6E8-4ADA-BC26-941EAA7D2559}"/>
              </a:ext>
            </a:extLst>
          </p:cNvPr>
          <p:cNvSpPr/>
          <p:nvPr>
            <p:ph type="body" idx="2"/>
          </p:nvPr>
        </p:nvSpPr>
        <p:spPr>
          <a:xfrm xmlns:a="http://schemas.openxmlformats.org/drawingml/2006/main">
            <a:off x="48324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4" name="Google Shape;24;p5">
            <a:extLst xmlns:a="http://schemas.openxmlformats.org/drawingml/2006/main">
              <a:ext uri="{FF2B5EF4-FFF2-40B4-BE49-F238E27FC236}">
                <a16:creationId xmlns:a16="http://schemas.microsoft.com/office/drawing/2014/main" id="{BCC439A5-7DD4-4D54-9A97-E3D543F5CCC4}"/>
              </a:ext>
            </a:extLst>
          </p:cNvPr>
          <p:cNvSpPr/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Google Shape;49;p12">
            <a:extLst xmlns:a="http://schemas.openxmlformats.org/drawingml/2006/main">
              <a:ext uri="{FF2B5EF4-FFF2-40B4-BE49-F238E27FC236}">
                <a16:creationId xmlns:a16="http://schemas.microsoft.com/office/drawing/2014/main" id="{B63BB9FF-2CAB-4C58-BD1B-038F77FE03E5}"/>
              </a:ext>
            </a:extLst>
          </p:cNvPr>
          <p:cNvSpPr/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>
  <p:cSld name="BIG_NUMB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Google Shape;45;p11">
            <a:extLst xmlns:a="http://schemas.openxmlformats.org/drawingml/2006/main">
              <a:ext uri="{FF2B5EF4-FFF2-40B4-BE49-F238E27FC236}">
                <a16:creationId xmlns:a16="http://schemas.microsoft.com/office/drawing/2014/main" id="{62676CE2-869D-4C82-AFF8-0139F48AC9C5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311700" y="1106125"/>
            <a:ext cx="8520600" cy="196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12000"/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12000"/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12000"/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12000"/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12000"/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12000"/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12000"/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12000"/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12000"/>
            </a:lvl9pPr>
          </a:lstStyle>
          <a:p xmlns:a="http://schemas.openxmlformats.org/drawingml/2006/main"/>
        </p:txBody>
      </p:sp>
      <p:sp>
        <p:nvSpPr>
          <p:cNvPr id="46" name="Google Shape;46;p11">
            <a:extLst xmlns:a="http://schemas.openxmlformats.org/drawingml/2006/main">
              <a:ext uri="{FF2B5EF4-FFF2-40B4-BE49-F238E27FC236}">
                <a16:creationId xmlns:a16="http://schemas.microsoft.com/office/drawing/2014/main" id="{AC016688-4B51-4BD3-8070-AB315D433DC9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311700" y="3152225"/>
            <a:ext cx="8520600" cy="130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 algn="ctr"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 algn="ctr"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17500" algn="ctr"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17500" algn="ctr"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17500" algn="ctr"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17500" algn="ctr"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17500" algn="ctr"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17500" algn="ctr"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17500" algn="ctr"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7" name="Google Shape;47;p11">
            <a:extLst xmlns:a="http://schemas.openxmlformats.org/drawingml/2006/main">
              <a:ext uri="{FF2B5EF4-FFF2-40B4-BE49-F238E27FC236}">
                <a16:creationId xmlns:a16="http://schemas.microsoft.com/office/drawing/2014/main" id="{BD4BAAD2-9BEA-42E2-BB6F-6A3DDA5F2504}"/>
              </a:ext>
            </a:extLst>
          </p:cNvPr>
          <p:cNvSpPr/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>
  <p:cSld name="CAPTION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Google Shape;42;p10">
            <a:extLst xmlns:a="http://schemas.openxmlformats.org/drawingml/2006/main">
              <a:ext uri="{FF2B5EF4-FFF2-40B4-BE49-F238E27FC236}">
                <a16:creationId xmlns:a16="http://schemas.microsoft.com/office/drawing/2014/main" id="{9331A99A-3446-45A5-9850-EA72EDC06853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311700" y="4230575"/>
            <a:ext cx="5998800" cy="60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</a:lstStyle>
          <a:p xmlns:a="http://schemas.openxmlformats.org/drawingml/2006/main"/>
        </p:txBody>
      </p:sp>
      <p:sp>
        <p:nvSpPr>
          <p:cNvPr id="43" name="Google Shape;43;p10">
            <a:extLst xmlns:a="http://schemas.openxmlformats.org/drawingml/2006/main">
              <a:ext uri="{FF2B5EF4-FFF2-40B4-BE49-F238E27FC236}">
                <a16:creationId xmlns:a16="http://schemas.microsoft.com/office/drawing/2014/main" id="{3E69EDF3-9F71-4E86-9699-48AD59CE1685}"/>
              </a:ext>
            </a:extLst>
          </p:cNvPr>
          <p:cNvSpPr/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6">
            <a:extLst xmlns:a="http://schemas.openxmlformats.org/drawingml/2006/main">
              <a:ext uri="{FF2B5EF4-FFF2-40B4-BE49-F238E27FC236}">
                <a16:creationId xmlns:a16="http://schemas.microsoft.com/office/drawing/2014/main" id="{E6AEB733-AD33-4B6A-8543-F78AFB571960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Google Shape;27;p6">
            <a:extLst xmlns:a="http://schemas.openxmlformats.org/drawingml/2006/main">
              <a:ext uri="{FF2B5EF4-FFF2-40B4-BE49-F238E27FC236}">
                <a16:creationId xmlns:a16="http://schemas.microsoft.com/office/drawing/2014/main" id="{7914A334-DEB8-4488-A370-05984BADCA3F}"/>
              </a:ext>
            </a:extLst>
          </p:cNvPr>
          <p:cNvSpPr/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>
  <p:cSld name="ONE_COLUM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oogle Shape;29;p7">
            <a:extLst xmlns:a="http://schemas.openxmlformats.org/drawingml/2006/main">
              <a:ext uri="{FF2B5EF4-FFF2-40B4-BE49-F238E27FC236}">
                <a16:creationId xmlns:a16="http://schemas.microsoft.com/office/drawing/2014/main" id="{BEB3D209-C4BD-488E-BDB2-50993F613A22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311700" y="555600"/>
            <a:ext cx="2808000" cy="755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 xmlns:a="http://schemas.openxmlformats.org/drawingml/2006/main"/>
        </p:txBody>
      </p:sp>
      <p:sp>
        <p:nvSpPr>
          <p:cNvPr id="30" name="Google Shape;30;p7">
            <a:extLst xmlns:a="http://schemas.openxmlformats.org/drawingml/2006/main">
              <a:ext uri="{FF2B5EF4-FFF2-40B4-BE49-F238E27FC236}">
                <a16:creationId xmlns:a16="http://schemas.microsoft.com/office/drawing/2014/main" id="{88794648-2FD1-4DFE-995D-3010EF14928D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311700" y="1389600"/>
            <a:ext cx="2808000" cy="3179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1pPr>
            <a:lvl2pPr marL="9144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31" name="Google Shape;31;p7">
            <a:extLst xmlns:a="http://schemas.openxmlformats.org/drawingml/2006/main">
              <a:ext uri="{FF2B5EF4-FFF2-40B4-BE49-F238E27FC236}">
                <a16:creationId xmlns:a16="http://schemas.microsoft.com/office/drawing/2014/main" id="{EA92A90C-E079-4300-81E0-879B2BAE4EC5}"/>
              </a:ext>
            </a:extLst>
          </p:cNvPr>
          <p:cNvSpPr/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>
  <p:cSld name="MAIN_POI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Google Shape;33;p8">
            <a:extLst xmlns:a="http://schemas.openxmlformats.org/drawingml/2006/main">
              <a:ext uri="{FF2B5EF4-FFF2-40B4-BE49-F238E27FC236}">
                <a16:creationId xmlns:a16="http://schemas.microsoft.com/office/drawing/2014/main" id="{490A61EB-1079-423D-AEF2-1989043B2116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490250" y="450150"/>
            <a:ext cx="6367800" cy="409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48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 xmlns:a="http://schemas.openxmlformats.org/drawingml/2006/main"/>
        </p:txBody>
      </p:sp>
      <p:sp>
        <p:nvSpPr>
          <p:cNvPr id="34" name="Google Shape;34;p8">
            <a:extLst xmlns:a="http://schemas.openxmlformats.org/drawingml/2006/main">
              <a:ext uri="{FF2B5EF4-FFF2-40B4-BE49-F238E27FC236}">
                <a16:creationId xmlns:a16="http://schemas.microsoft.com/office/drawing/2014/main" id="{B6389786-DE22-48C0-BBFC-6CAB5304F115}"/>
              </a:ext>
            </a:extLst>
          </p:cNvPr>
          <p:cNvSpPr/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12.xml><?xml version="1.0" encoding="utf-8"?>
<p:sldLayout xmlns:p="http://schemas.openxmlformats.org/presentationml/2006/main">
  <p:cSld name="SECTION_TITLE_AND_DESCRI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Google Shape;37;p9">
            <a:extLst xmlns:a="http://schemas.openxmlformats.org/drawingml/2006/main">
              <a:ext uri="{FF2B5EF4-FFF2-40B4-BE49-F238E27FC236}">
                <a16:creationId xmlns:a16="http://schemas.microsoft.com/office/drawing/2014/main" id="{4278B6F8-8458-40B8-BA07-31820CF02789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265500" y="1233175"/>
            <a:ext cx="4045200" cy="148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4200"/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4200"/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4200"/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4200"/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4200"/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4200"/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4200"/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4200"/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4200"/>
            </a:lvl9pPr>
          </a:lstStyle>
          <a:p xmlns:a="http://schemas.openxmlformats.org/drawingml/2006/main"/>
        </p:txBody>
      </p:sp>
      <p:sp>
        <p:nvSpPr>
          <p:cNvPr id="38" name="Google Shape;38;p9">
            <a:extLst xmlns:a="http://schemas.openxmlformats.org/drawingml/2006/main">
              <a:ext uri="{FF2B5EF4-FFF2-40B4-BE49-F238E27FC236}">
                <a16:creationId xmlns:a16="http://schemas.microsoft.com/office/drawing/2014/main" id="{E24293F3-4C7F-486C-A3EB-7FF3BC81F7D5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265500" y="2803075"/>
            <a:ext cx="4045200" cy="123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9pPr>
          </a:lstStyle>
          <a:p xmlns:a="http://schemas.openxmlformats.org/drawingml/2006/main"/>
        </p:txBody>
      </p:sp>
      <p:sp>
        <p:nvSpPr>
          <p:cNvPr id="39" name="Google Shape;39;p9">
            <a:extLst xmlns:a="http://schemas.openxmlformats.org/drawingml/2006/main">
              <a:ext uri="{FF2B5EF4-FFF2-40B4-BE49-F238E27FC236}">
                <a16:creationId xmlns:a16="http://schemas.microsoft.com/office/drawing/2014/main" id="{088B877A-A480-4CB7-92B0-4E9BB12284FC}"/>
              </a:ext>
            </a:extLst>
          </p:cNvPr>
          <p:cNvSpPr/>
          <p:nvPr>
            <p:ph type="body" idx="2"/>
          </p:nvPr>
        </p:nvSpPr>
        <p:spPr>
          <a:xfrm xmlns:a="http://schemas.openxmlformats.org/drawingml/2006/main">
            <a:off x="4939500" y="724075"/>
            <a:ext cx="3837000" cy="369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0" name="Google Shape;40;p9">
            <a:extLst xmlns:a="http://schemas.openxmlformats.org/drawingml/2006/main">
              <a:ext uri="{FF2B5EF4-FFF2-40B4-BE49-F238E27FC236}">
                <a16:creationId xmlns:a16="http://schemas.microsoft.com/office/drawing/2014/main" id="{4B56FE97-4E38-41A8-923F-6EDBD40397E2}"/>
              </a:ext>
            </a:extLst>
          </p:cNvPr>
          <p:cNvSpPr/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13.xml><?xml version="1.0" encoding="utf-8"?>
<p:sldLayout xmlns:p="http://schemas.openxmlformats.org/presentationml/2006/main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49cfda41d44159" /><Relationship Type="http://schemas.openxmlformats.org/officeDocument/2006/relationships/theme" Target="/ppt/theme/theme1.xml" Id="R64372b542249464b" /><Relationship Type="http://schemas.openxmlformats.org/officeDocument/2006/relationships/slideLayout" Target="/ppt/slideLayouts/slideLayout2.xml" Id="R7a130edf50ce4a63" /><Relationship Type="http://schemas.openxmlformats.org/officeDocument/2006/relationships/slideLayout" Target="/ppt/slideLayouts/slideLayout3.xml" Id="R74d0d46d1f394eab" /><Relationship Type="http://schemas.openxmlformats.org/officeDocument/2006/relationships/slideLayout" Target="/ppt/slideLayouts/slideLayout4.xml" Id="Ra92cf449ad6c4dc9" /><Relationship Type="http://schemas.openxmlformats.org/officeDocument/2006/relationships/slideLayout" Target="/ppt/slideLayouts/slideLayout5.xml" Id="R2a7a8eea16534059" /><Relationship Type="http://schemas.openxmlformats.org/officeDocument/2006/relationships/slideLayout" Target="/ppt/slideLayouts/slideLayout6.xml" Id="R46e92b6db34e4307" /><Relationship Type="http://schemas.openxmlformats.org/officeDocument/2006/relationships/slideLayout" Target="/ppt/slideLayouts/slideLayout7.xml" Id="R8e256156b8c84815" /><Relationship Type="http://schemas.openxmlformats.org/officeDocument/2006/relationships/slideLayout" Target="/ppt/slideLayouts/slideLayout8.xml" Id="Rfa6e20bf77194c7c" /><Relationship Type="http://schemas.openxmlformats.org/officeDocument/2006/relationships/slideLayout" Target="/ppt/slideLayouts/slideLayout9.xml" Id="R8d1c4657ee84402c" /><Relationship Type="http://schemas.openxmlformats.org/officeDocument/2006/relationships/slideLayout" Target="/ppt/slideLayouts/slideLayout10.xml" Id="R52ac2dde07a14f26" /><Relationship Type="http://schemas.openxmlformats.org/officeDocument/2006/relationships/slideLayout" Target="/ppt/slideLayouts/slideLayout11.xml" Id="R6afa12f8b5004ce5" /><Relationship Type="http://schemas.openxmlformats.org/officeDocument/2006/relationships/slideLayout" Target="/ppt/slideLayouts/slideLayout12.xml" Id="R0e9723cbc48d4feb" /><Relationship Type="http://schemas.openxmlformats.org/officeDocument/2006/relationships/slideLayout" Target="/ppt/slideLayouts/slideLayout13.xml" Id="R3c5a10e34e034ff0" /></Relationships>
</file>

<file path=ppt/slideMasters/slideMaster1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414D7307-96C4-43FA-990B-E0236A62174D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3D2E5F0D-CDD7-4910-B7CC-0C0D22D8C7B0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800">
                <a:solidFill>
                  <a:schemeClr val="dk2"/>
                </a:solidFill>
              </a:defRPr>
            </a:lvl1pPr>
            <a:lvl2pPr marL="914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>
                <a:solidFill>
                  <a:schemeClr val="dk2"/>
                </a:solidFill>
              </a:defRPr>
            </a:lvl2pPr>
            <a:lvl3pPr marL="1371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>
                <a:solidFill>
                  <a:schemeClr val="dk2"/>
                </a:solidFill>
              </a:defRPr>
            </a:lvl3pPr>
            <a:lvl4pPr marL="1828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>
                <a:solidFill>
                  <a:schemeClr val="dk2"/>
                </a:solidFill>
              </a:defRPr>
            </a:lvl4pPr>
            <a:lvl5pPr marL="22860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>
                <a:solidFill>
                  <a:schemeClr val="dk2"/>
                </a:solidFill>
              </a:defRPr>
            </a:lvl5pPr>
            <a:lvl6pPr marL="27432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>
                <a:solidFill>
                  <a:schemeClr val="dk2"/>
                </a:solidFill>
              </a:defRPr>
            </a:lvl6pPr>
            <a:lvl7pPr marL="3200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>
                <a:solidFill>
                  <a:schemeClr val="dk2"/>
                </a:solidFill>
              </a:defRPr>
            </a:lvl7pPr>
            <a:lvl8pPr marL="3657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>
                <a:solidFill>
                  <a:schemeClr val="dk2"/>
                </a:solidFill>
              </a:defRPr>
            </a:lvl8pPr>
            <a:lvl9pPr marL="4114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>
                <a:solidFill>
                  <a:schemeClr val="dk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792ECF00-2B5D-4252-A841-25C82D4C4F05}"/>
              </a:ext>
            </a:extLst>
          </p:cNvPr>
          <p:cNvSpPr/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dk2"/>
                </a:solidFill>
              </a:defRPr>
            </a:lvl1pPr>
            <a:lvl2pPr algn="r">
              <a:buNone/>
              <a:defRPr sz="1000">
                <a:solidFill>
                  <a:schemeClr val="dk2"/>
                </a:solidFill>
              </a:defRPr>
            </a:lvl2pPr>
            <a:lvl3pPr algn="r">
              <a:buNone/>
              <a:defRPr sz="1000">
                <a:solidFill>
                  <a:schemeClr val="dk2"/>
                </a:solidFill>
              </a:defRPr>
            </a:lvl3pPr>
            <a:lvl4pPr algn="r">
              <a:buNone/>
              <a:defRPr sz="1000">
                <a:solidFill>
                  <a:schemeClr val="dk2"/>
                </a:solidFill>
              </a:defRPr>
            </a:lvl4pPr>
            <a:lvl5pPr algn="r">
              <a:buNone/>
              <a:defRPr sz="1000">
                <a:solidFill>
                  <a:schemeClr val="dk2"/>
                </a:solidFill>
              </a:defRPr>
            </a:lvl5pPr>
            <a:lvl6pPr algn="r">
              <a:buNone/>
              <a:defRPr sz="1000">
                <a:solidFill>
                  <a:schemeClr val="dk2"/>
                </a:solidFill>
              </a:defRPr>
            </a:lvl6pPr>
            <a:lvl7pPr algn="r">
              <a:buNone/>
              <a:defRPr sz="1000">
                <a:solidFill>
                  <a:schemeClr val="dk2"/>
                </a:solidFill>
              </a:defRPr>
            </a:lvl7pPr>
            <a:lvl8pPr algn="r">
              <a:buNone/>
              <a:defRPr sz="1000">
                <a:solidFill>
                  <a:schemeClr val="dk2"/>
                </a:solidFill>
              </a:defRPr>
            </a:lvl8pPr>
            <a:lvl9pPr algn="r">
              <a:buNone/>
              <a:defRPr sz="1000">
                <a:solidFill>
                  <a:schemeClr val="dk2"/>
                </a:solidFill>
              </a:defRPr>
            </a:lvl9pPr>
          </a:lstStyle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8" r:id="Rd049cfda41d44159"/>
    <p:sldLayoutId xmlns:r="http://schemas.openxmlformats.org/officeDocument/2006/relationships" id="2147483649" r:id="R7a130edf50ce4a63"/>
    <p:sldLayoutId xmlns:r="http://schemas.openxmlformats.org/officeDocument/2006/relationships" id="2147483650" r:id="R74d0d46d1f394eab"/>
    <p:sldLayoutId xmlns:r="http://schemas.openxmlformats.org/officeDocument/2006/relationships" id="2147483651" r:id="Ra92cf449ad6c4dc9"/>
    <p:sldLayoutId xmlns:r="http://schemas.openxmlformats.org/officeDocument/2006/relationships" id="2147483652" r:id="R2a7a8eea16534059"/>
    <p:sldLayoutId xmlns:r="http://schemas.openxmlformats.org/officeDocument/2006/relationships" id="2147483653" r:id="R46e92b6db34e4307"/>
    <p:sldLayoutId xmlns:r="http://schemas.openxmlformats.org/officeDocument/2006/relationships" id="2147483654" r:id="R8e256156b8c84815"/>
    <p:sldLayoutId xmlns:r="http://schemas.openxmlformats.org/officeDocument/2006/relationships" id="2147483655" r:id="Rfa6e20bf77194c7c"/>
    <p:sldLayoutId xmlns:r="http://schemas.openxmlformats.org/officeDocument/2006/relationships" id="2147483656" r:id="R8d1c4657ee84402c"/>
    <p:sldLayoutId xmlns:r="http://schemas.openxmlformats.org/officeDocument/2006/relationships" id="2147483657" r:id="R52ac2dde07a14f26"/>
    <p:sldLayoutId xmlns:r="http://schemas.openxmlformats.org/officeDocument/2006/relationships" id="2147483658" r:id="R6afa12f8b5004ce5"/>
    <p:sldLayoutId xmlns:r="http://schemas.openxmlformats.org/officeDocument/2006/relationships" id="2147483659" r:id="R0e9723cbc48d4feb"/>
    <p:sldLayoutId xmlns:r="http://schemas.openxmlformats.org/officeDocument/2006/relationships" id="2147483660" r:id="R3c5a10e34e034ff0"/>
  </p:sldLayoutIdLst>
  <p:txStyles>
    <p:title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3a2be492e11845fd" /><Relationship Type="http://schemas.openxmlformats.org/officeDocument/2006/relationships/image" Target="/ppt/media/image.png" Id="R33ab769c75664290" /><Relationship Type="http://schemas.openxmlformats.org/officeDocument/2006/relationships/image" Target="/ppt/media/image2.png" Id="R3342db22120d4409" /><Relationship Type="http://schemas.openxmlformats.org/officeDocument/2006/relationships/image" Target="/ppt/media/image3.png" Id="R554727052f7d416d" /><Relationship Type="http://schemas.openxmlformats.org/officeDocument/2006/relationships/notesSlide" Target="/ppt/notesSlides/notesSlide1.xml" Id="R9698269b2feb409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d0e34a515eb84774" /><Relationship Type="http://schemas.openxmlformats.org/officeDocument/2006/relationships/notesSlide" Target="/ppt/notesSlides/notesSlide2.xml" Id="Rf93a69e63b2741f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8e3b795dbd314ccf" /><Relationship Type="http://schemas.openxmlformats.org/officeDocument/2006/relationships/notesSlide" Target="/ppt/notesSlides/notesSlide3.xml" Id="R8ab617fcf151438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dce6745b35654787" /><Relationship Type="http://schemas.openxmlformats.org/officeDocument/2006/relationships/notesSlide" Target="/ppt/notesSlides/notesSlide4.xml" Id="R798418be0e774ae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ea69313b81b24019" /><Relationship Type="http://schemas.openxmlformats.org/officeDocument/2006/relationships/notesSlide" Target="/ppt/notesSlides/notesSlide5.xml" Id="Re27dc330218a408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b58fce9302436b" /><Relationship Type="http://schemas.openxmlformats.org/officeDocument/2006/relationships/notesSlide" Target="/ppt/notesSlides/notesSlide6.xml" Id="R07838acfd600488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Google Shape;57;p15">
            <a:extLst xmlns:a="http://schemas.openxmlformats.org/drawingml/2006/main">
              <a:ext uri="{FF2B5EF4-FFF2-40B4-BE49-F238E27FC236}">
                <a16:creationId xmlns:a16="http://schemas.microsoft.com/office/drawing/2014/main" id="{6944564F-4995-43B0-B5A8-A5E977B9F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2"/>
          </a:solidFill>
          <a:ln xmlns:a="http://schemas.openxmlformats.org/drawingml/2006/main" w="9525" cmpd="sng">
            <a:solidFill>
              <a:srgbClr val="F7F7F2"/>
            </a:solidFill>
            <a:prstDash val="solid"/>
          </a:ln>
        </p:spPr>
        <p:txBody>
          <a:bodyPr xmlns:a="http://schemas.openxmlformats.org/drawingml/2006/main" spcFirstLastPara="1" wrap="square" lIns="68575" tIns="68575" rIns="68575" bIns="6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58" name="Google Shape;58;p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ab769c75664290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57200" y="357188"/>
            <a:ext cx="371475" cy="371475"/>
          </a:xfrm>
          <a:prstGeom xmlns:a="http://schemas.openxmlformats.org/drawingml/2006/main" prst="rect">
            <a:avLst/>
          </a:prstGeom>
        </p:spPr>
      </p:pic>
      <p:sp>
        <p:nvSpPr>
          <p:cNvPr id="59" name="Google Shape;59;p15">
            <a:extLst xmlns:a="http://schemas.openxmlformats.org/drawingml/2006/main">
              <a:ext uri="{FF2B5EF4-FFF2-40B4-BE49-F238E27FC236}">
                <a16:creationId xmlns:a16="http://schemas.microsoft.com/office/drawing/2014/main" id="{8459F03D-0FA4-4F44-A2C6-E3EBCD693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4338"/>
            <a:ext cx="1857375" cy="242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102A2D"/>
                </a:solidFill>
                <a:latin typeface="Play"/>
                <a:ea typeface="Play"/>
                <a:cs typeface="Play"/>
              </a:rPr>
              <a:t>ZK Backpack</a:t>
            </a:r>
          </a:p>
        </p:txBody>
      </p:sp>
      <p:sp>
        <p:nvSpPr>
          <p:cNvPr id="60" name="Google Shape;60;p15">
            <a:extLst xmlns:a="http://schemas.openxmlformats.org/drawingml/2006/main">
              <a:ext uri="{FF2B5EF4-FFF2-40B4-BE49-F238E27FC236}">
                <a16:creationId xmlns:a16="http://schemas.microsoft.com/office/drawing/2014/main" id="{E7FF7098-C149-43DC-8FFA-53180A50D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71575"/>
            <a:ext cx="4322100" cy="1217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600" b="1">
                <a:solidFill>
                  <a:srgbClr val="102A2D"/>
                </a:solidFill>
                <a:latin typeface="Play"/>
                <a:ea typeface="Play"/>
                <a:cs typeface="Play"/>
              </a:rPr>
              <a:t>Private proof sharing that feels as simple as a document wallet.</a:t>
            </a:r>
          </a:p>
        </p:txBody>
      </p:sp>
      <p:sp>
        <p:nvSpPr>
          <p:cNvPr id="61" name="Google Shape;61;p15">
            <a:extLst xmlns:a="http://schemas.openxmlformats.org/drawingml/2006/main">
              <a:ext uri="{FF2B5EF4-FFF2-40B4-BE49-F238E27FC236}">
                <a16:creationId xmlns:a16="http://schemas.microsoft.com/office/drawing/2014/main" id="{74E49031-07FE-4D85-9F4F-5217411C4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03008"/>
            <a:ext cx="3914700" cy="11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>
                  <a:srgbClr val="5D7478"/>
                </a:solidFill>
                <a:latin typeface="Arial"/>
                <a:ea typeface="Arial"/>
                <a:cs typeface="Arial"/>
              </a:rPr>
              <a:t>A mobile vault for </a:t>
            </a:r>
            <a:r>
              <a:rPr>
                <a:solidFill>
                  <a:srgbClr val="5D7478"/>
                </a:solidFill>
              </a:rPr>
              <a:t>your web</a:t>
            </a:r>
            <a:r>
              <a:rPr b="0">
                <a:solidFill>
                  <a:srgbClr val="5D7478"/>
                </a:solidFill>
                <a:latin typeface="Arial"/>
                <a:ea typeface="Arial"/>
                <a:cs typeface="Arial"/>
              </a:rPr>
              <a:t> credentials: </a:t>
            </a:r>
          </a:p>
          <a:p xmlns:a="http://schemas.openxmlformats.org/drawingml/2006/main">
            <a:pPr marL="457200" indent="-317500" algn="l">
              <a:spcBef>
                <a:spcPts val="0"/>
              </a:spcBef>
              <a:spcAft>
                <a:spcPts val="0"/>
              </a:spcAft>
              <a:buChar char="-"/>
            </a:pPr>
            <a:r>
              <a:rPr b="0">
                <a:solidFill>
                  <a:srgbClr val="5D7478"/>
                </a:solidFill>
                <a:latin typeface="Arial"/>
                <a:ea typeface="Arial"/>
                <a:cs typeface="Arial"/>
              </a:rPr>
              <a:t>generate once </a:t>
            </a:r>
          </a:p>
          <a:p xmlns:a="http://schemas.openxmlformats.org/drawingml/2006/main">
            <a:pPr marL="457200" indent="-317500" algn="l">
              <a:spcBef>
                <a:spcPts val="0"/>
              </a:spcBef>
              <a:spcAft>
                <a:spcPts val="0"/>
              </a:spcAft>
              <a:buChar char="-"/>
            </a:pPr>
            <a:r>
              <a:rPr b="0">
                <a:solidFill>
                  <a:srgbClr val="5D7478"/>
                </a:solidFill>
                <a:latin typeface="Arial"/>
                <a:ea typeface="Arial"/>
                <a:cs typeface="Arial"/>
              </a:rPr>
              <a:t>reveal only the needed fact</a:t>
            </a:r>
          </a:p>
          <a:p xmlns:a="http://schemas.openxmlformats.org/drawingml/2006/main">
            <a:pPr marL="457200" indent="-317500" algn="l">
              <a:spcBef>
                <a:spcPts val="0"/>
              </a:spcBef>
              <a:spcAft>
                <a:spcPts val="0"/>
              </a:spcAft>
              <a:buChar char="-"/>
            </a:pPr>
            <a:r>
              <a:rPr b="0">
                <a:solidFill>
                  <a:srgbClr val="5D7478"/>
                </a:solidFill>
                <a:latin typeface="Arial"/>
                <a:ea typeface="Arial"/>
                <a:cs typeface="Arial"/>
              </a:rPr>
              <a:t>let any recipient verify it in a browser.</a:t>
            </a:r>
          </a:p>
        </p:txBody>
      </p:sp>
      <p:sp>
        <p:nvSpPr>
          <p:cNvPr id="62" name="Google Shape;62;p15">
            <a:extLst xmlns:a="http://schemas.openxmlformats.org/drawingml/2006/main">
              <a:ext uri="{FF2B5EF4-FFF2-40B4-BE49-F238E27FC236}">
                <a16:creationId xmlns:a16="http://schemas.microsoft.com/office/drawing/2014/main" id="{64E7CF81-30AD-45CB-8B3C-3550422CB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741" y="3849723"/>
            <a:ext cx="1647300" cy="31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A"/>
          </a:solidFill>
          <a:ln xmlns:a="http://schemas.openxmlformats.org/drawingml/2006/main" w="12200" cmpd="sng">
            <a:solidFill>
              <a:srgbClr val="DDF3EA"/>
            </a:solidFill>
            <a:prstDash val="solid"/>
          </a:ln>
        </p:spPr>
        <p:txBody>
          <a:bodyPr xmlns:a="http://schemas.openxmlformats.org/drawingml/2006/main" spcFirstLastPara="1" wrap="square" lIns="87850" tIns="87850" rIns="87850" bIns="8785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63" name="Google Shape;63;p15">
            <a:extLst xmlns:a="http://schemas.openxmlformats.org/drawingml/2006/main">
              <a:ext uri="{FF2B5EF4-FFF2-40B4-BE49-F238E27FC236}">
                <a16:creationId xmlns:a16="http://schemas.microsoft.com/office/drawing/2014/main" id="{7736966C-E241-4844-B724-C491CEA91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55" y="3913785"/>
            <a:ext cx="1464300" cy="16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2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897" b="1">
                <a:solidFill>
                  <a:srgbClr val="0D7943"/>
                </a:solidFill>
                <a:latin typeface="Arial"/>
                <a:ea typeface="Arial"/>
                <a:cs typeface="Arial"/>
              </a:rPr>
              <a:t>Local encrypted vault</a:t>
            </a:r>
          </a:p>
        </p:txBody>
      </p:sp>
      <p:sp>
        <p:nvSpPr>
          <p:cNvPr id="64" name="Google Shape;64;p15">
            <a:extLst xmlns:a="http://schemas.openxmlformats.org/drawingml/2006/main">
              <a:ext uri="{FF2B5EF4-FFF2-40B4-BE49-F238E27FC236}">
                <a16:creationId xmlns:a16="http://schemas.microsoft.com/office/drawing/2014/main" id="{0808B39C-23D0-489E-B97A-642A3F06B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814" y="3849723"/>
            <a:ext cx="1281300" cy="31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F"/>
          </a:solidFill>
          <a:ln xmlns:a="http://schemas.openxmlformats.org/drawingml/2006/main" w="12200" cmpd="sng">
            <a:solidFill>
              <a:srgbClr val="E8EEFF"/>
            </a:solidFill>
            <a:prstDash val="solid"/>
          </a:ln>
        </p:spPr>
        <p:txBody>
          <a:bodyPr xmlns:a="http://schemas.openxmlformats.org/drawingml/2006/main" spcFirstLastPara="1" wrap="square" lIns="87850" tIns="87850" rIns="87850" bIns="8785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65" name="Google Shape;65;p15">
            <a:extLst xmlns:a="http://schemas.openxmlformats.org/drawingml/2006/main">
              <a:ext uri="{FF2B5EF4-FFF2-40B4-BE49-F238E27FC236}">
                <a16:creationId xmlns:a16="http://schemas.microsoft.com/office/drawing/2014/main" id="{5BCE6943-8F8F-42FB-84FC-02CF4751A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6328" y="3913785"/>
            <a:ext cx="1098300" cy="16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2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897" b="1">
                <a:solidFill>
                  <a:srgbClr val="2E5BFF"/>
                </a:solidFill>
                <a:latin typeface="Arial"/>
                <a:ea typeface="Arial"/>
                <a:cs typeface="Arial"/>
              </a:rPr>
              <a:t>Scoped QR links</a:t>
            </a:r>
          </a:p>
        </p:txBody>
      </p:sp>
      <p:sp>
        <p:nvSpPr>
          <p:cNvPr id="66" name="Google Shape;66;p15">
            <a:extLst xmlns:a="http://schemas.openxmlformats.org/drawingml/2006/main">
              <a:ext uri="{FF2B5EF4-FFF2-40B4-BE49-F238E27FC236}">
                <a16:creationId xmlns:a16="http://schemas.microsoft.com/office/drawing/2014/main" id="{FAA41AD7-8038-4BEC-9A93-006536D20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830" y="3849723"/>
            <a:ext cx="1372800" cy="31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2"/>
          </a:solidFill>
          <a:ln xmlns:a="http://schemas.openxmlformats.org/drawingml/2006/main" w="12200" cmpd="sng">
            <a:solidFill>
              <a:srgbClr val="FFF2D2"/>
            </a:solidFill>
            <a:prstDash val="solid"/>
          </a:ln>
        </p:spPr>
        <p:txBody>
          <a:bodyPr xmlns:a="http://schemas.openxmlformats.org/drawingml/2006/main" spcFirstLastPara="1" wrap="square" lIns="87850" tIns="87850" rIns="87850" bIns="8785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67" name="Google Shape;67;p15">
            <a:extLst xmlns:a="http://schemas.openxmlformats.org/drawingml/2006/main">
              <a:ext uri="{FF2B5EF4-FFF2-40B4-BE49-F238E27FC236}">
                <a16:creationId xmlns:a16="http://schemas.microsoft.com/office/drawing/2014/main" id="{A950820B-1D32-4389-A7A9-F7AD09082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7344" y="3913785"/>
            <a:ext cx="1189800" cy="16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2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897" b="1">
                <a:solidFill>
                  <a:srgbClr val="8A5B00"/>
                </a:solidFill>
                <a:latin typeface="Arial"/>
                <a:ea typeface="Arial"/>
                <a:cs typeface="Arial"/>
              </a:rPr>
              <a:t>Revocable shares</a:t>
            </a:r>
          </a:p>
        </p:txBody>
      </p:sp>
      <p:sp>
        <p:nvSpPr>
          <p:cNvPr id="68" name="Google Shape;68;p15">
            <a:extLst xmlns:a="http://schemas.openxmlformats.org/drawingml/2006/main">
              <a:ext uri="{FF2B5EF4-FFF2-40B4-BE49-F238E27FC236}">
                <a16:creationId xmlns:a16="http://schemas.microsoft.com/office/drawing/2014/main" id="{72E773B6-92CC-4196-9E3F-E4BAC6480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9219" y="442913"/>
            <a:ext cx="1943100" cy="4214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4"/>
          </a:solidFill>
          <a:ln xmlns:a="http://schemas.openxmlformats.org/drawingml/2006/main" w="9525" cmpd="sng">
            <a:solidFill>
              <a:srgbClr val="C8DEDC"/>
            </a:solidFill>
            <a:prstDash val="solid"/>
          </a:ln>
        </p:spPr>
        <p:txBody>
          <a:bodyPr xmlns:a="http://schemas.openxmlformats.org/drawingml/2006/main" spcFirstLastPara="1" wrap="square" lIns="68575" tIns="68575" rIns="68575" bIns="6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69" name="Google Shape;69;p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42db22120d4409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329238" y="765297"/>
            <a:ext cx="1643063" cy="3555756"/>
          </a:xfrm>
          <a:prstGeom xmlns:a="http://schemas.openxmlformats.org/drawingml/2006/main" prst="rect">
            <a:avLst/>
          </a:prstGeom>
        </p:spPr>
      </p:pic>
      <p:sp>
        <p:nvSpPr>
          <p:cNvPr id="70" name="Google Shape;70;p15">
            <a:extLst xmlns:a="http://schemas.openxmlformats.org/drawingml/2006/main">
              <a:ext uri="{FF2B5EF4-FFF2-40B4-BE49-F238E27FC236}">
                <a16:creationId xmlns:a16="http://schemas.microsoft.com/office/drawing/2014/main" id="{BE884B93-BBAF-461D-BA12-D2744AE8D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2350" y="442925"/>
            <a:ext cx="1647300" cy="417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E3E0DA"/>
            </a:solidFill>
            <a:prstDash val="solid"/>
          </a:ln>
        </p:spPr>
        <p:txBody>
          <a:bodyPr xmlns:a="http://schemas.openxmlformats.org/drawingml/2006/main" spcFirstLastPara="1" wrap="square" lIns="68575" tIns="68575" rIns="68575" bIns="6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71" name="Google Shape;71;p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4727052f7d416d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477961" y="559821"/>
            <a:ext cx="1235907" cy="3941065"/>
          </a:xfrm>
          <a:prstGeom xmlns:a="http://schemas.openxmlformats.org/drawingml/2006/main" prst="rect">
            <a:avLst/>
          </a:prstGeom>
        </p:spPr>
      </p:pic>
      <p:sp>
        <p:nvSpPr>
          <p:cNvPr id="72" name="Google Shape;72;p15">
            <a:extLst xmlns:a="http://schemas.openxmlformats.org/drawingml/2006/main">
              <a:ext uri="{FF2B5EF4-FFF2-40B4-BE49-F238E27FC236}">
                <a16:creationId xmlns:a16="http://schemas.microsoft.com/office/drawing/2014/main" id="{68932900-EF5C-454C-A261-CBCCBE11F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672013"/>
            <a:ext cx="714375" cy="1285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00" b="1">
                <a:solidFill>
                  <a:srgbClr val="0E7490"/>
                </a:solidFill>
                <a:latin typeface="Arial"/>
                <a:ea typeface="Arial"/>
                <a:cs typeface="Arial"/>
              </a:rPr>
              <a:t>Owner app</a:t>
            </a:r>
          </a:p>
        </p:txBody>
      </p:sp>
      <p:sp>
        <p:nvSpPr>
          <p:cNvPr id="73" name="Google Shape;73;p15">
            <a:extLst xmlns:a="http://schemas.openxmlformats.org/drawingml/2006/main">
              <a:ext uri="{FF2B5EF4-FFF2-40B4-BE49-F238E27FC236}">
                <a16:creationId xmlns:a16="http://schemas.microsoft.com/office/drawing/2014/main" id="{705B7A3C-BA54-44E4-9652-440113BB6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0938" y="4663504"/>
            <a:ext cx="928800" cy="137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00" b="1">
                <a:solidFill>
                  <a:srgbClr val="2E5BFF"/>
                </a:solidFill>
                <a:latin typeface="Arial"/>
                <a:ea typeface="Arial"/>
                <a:cs typeface="Arial"/>
              </a:rPr>
              <a:t>Recipient portal</a:t>
            </a:r>
          </a:p>
        </p:txBody>
      </p:sp>
      <p:sp>
        <p:nvSpPr>
          <p:cNvPr id="74" name="Google Shape;74;p15">
            <a:extLst xmlns:a="http://schemas.openxmlformats.org/drawingml/2006/main">
              <a:ext uri="{FF2B5EF4-FFF2-40B4-BE49-F238E27FC236}">
                <a16:creationId xmlns:a16="http://schemas.microsoft.com/office/drawing/2014/main" id="{0E2A6EBA-D887-4B2F-8818-D38EA7C93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3906" y="4843463"/>
            <a:ext cx="28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700" b="1">
                <a:solidFill>
                  <a:srgbClr val="78909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007679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0" name="Google Shape;80;p16">
            <a:extLst xmlns:a="http://schemas.openxmlformats.org/drawingml/2006/main">
              <a:ext uri="{FF2B5EF4-FFF2-40B4-BE49-F238E27FC236}">
                <a16:creationId xmlns:a16="http://schemas.microsoft.com/office/drawing/2014/main" id="{DEA2CC19-B518-412B-A221-B0D5BE319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2"/>
          </a:solidFill>
          <a:ln xmlns:a="http://schemas.openxmlformats.org/drawingml/2006/main" w="9525" cmpd="sng">
            <a:solidFill>
              <a:srgbClr val="F7F7F2"/>
            </a:solidFill>
            <a:prstDash val="solid"/>
          </a:ln>
        </p:spPr>
        <p:txBody>
          <a:bodyPr xmlns:a="http://schemas.openxmlformats.org/drawingml/2006/main" spcFirstLastPara="1" wrap="square" lIns="68575" tIns="68575" rIns="68575" bIns="6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81" name="Google Shape;81;p16">
            <a:extLst xmlns:a="http://schemas.openxmlformats.org/drawingml/2006/main">
              <a:ext uri="{FF2B5EF4-FFF2-40B4-BE49-F238E27FC236}">
                <a16:creationId xmlns:a16="http://schemas.microsoft.com/office/drawing/2014/main" id="{FDD665F3-D5B3-4E47-9A61-357728072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25" y="367888"/>
            <a:ext cx="3714900" cy="1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2E5BFF"/>
                </a:solidFill>
                <a:latin typeface="Arial"/>
                <a:ea typeface="Arial"/>
                <a:cs typeface="Arial"/>
              </a:rPr>
              <a:t>REAL WORLD USE</a:t>
            </a:r>
          </a:p>
        </p:txBody>
      </p:sp>
      <p:sp>
        <p:nvSpPr>
          <p:cNvPr id="82" name="Google Shape;82;p16">
            <a:extLst xmlns:a="http://schemas.openxmlformats.org/drawingml/2006/main">
              <a:ext uri="{FF2B5EF4-FFF2-40B4-BE49-F238E27FC236}">
                <a16:creationId xmlns:a16="http://schemas.microsoft.com/office/drawing/2014/main" id="{3C05A2DE-D466-4450-9A16-C98552934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5643562" cy="5000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02A2D"/>
                </a:solidFill>
                <a:latin typeface="Play"/>
                <a:ea typeface="Play"/>
                <a:cs typeface="Play"/>
              </a:rPr>
              <a:t>One proof can serve many checks without oversharing.</a:t>
            </a:r>
          </a:p>
        </p:txBody>
      </p:sp>
      <p:sp>
        <p:nvSpPr>
          <p:cNvPr id="83" name="Google Shape;83;p16">
            <a:extLst xmlns:a="http://schemas.openxmlformats.org/drawingml/2006/main">
              <a:ext uri="{FF2B5EF4-FFF2-40B4-BE49-F238E27FC236}">
                <a16:creationId xmlns:a16="http://schemas.microsoft.com/office/drawing/2014/main" id="{7538CEF8-B1F5-4C8E-B1D0-256E2A0B9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8" y="1485900"/>
            <a:ext cx="5000625" cy="3857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5D7478"/>
                </a:solidFill>
                <a:latin typeface="Arial"/>
                <a:ea typeface="Arial"/>
                <a:cs typeface="Arial"/>
              </a:rPr>
              <a:t>Each verifier gets a narrow answer and cryptographic evidence. The user keeps the reusable proof in their backpack.</a:t>
            </a:r>
          </a:p>
        </p:txBody>
      </p:sp>
      <p:sp>
        <p:nvSpPr>
          <p:cNvPr id="84" name="Google Shape;84;p16">
            <a:extLst xmlns:a="http://schemas.openxmlformats.org/drawingml/2006/main">
              <a:ext uri="{FF2B5EF4-FFF2-40B4-BE49-F238E27FC236}">
                <a16:creationId xmlns:a16="http://schemas.microsoft.com/office/drawing/2014/main" id="{609D96CB-C51E-4177-B371-A0610ADB8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450" y="2181888"/>
            <a:ext cx="2357400" cy="15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9525" cmpd="sng">
            <a:solidFill>
              <a:srgbClr val="0E7490"/>
            </a:solidFill>
            <a:prstDash val="solid"/>
          </a:ln>
        </p:spPr>
        <p:txBody>
          <a:bodyPr xmlns:a="http://schemas.openxmlformats.org/drawingml/2006/main" spcFirstLastPara="1" wrap="square" lIns="68575" tIns="68575" rIns="68575" bIns="6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85" name="Google Shape;85;p16">
            <a:extLst xmlns:a="http://schemas.openxmlformats.org/drawingml/2006/main">
              <a:ext uri="{FF2B5EF4-FFF2-40B4-BE49-F238E27FC236}">
                <a16:creationId xmlns:a16="http://schemas.microsoft.com/office/drawing/2014/main" id="{CDBE8EFE-61BB-4181-B23C-79F7A7B91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63" y="2424775"/>
            <a:ext cx="1785900" cy="257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FFFFFF"/>
                </a:solidFill>
                <a:latin typeface="Play"/>
                <a:ea typeface="Play"/>
                <a:cs typeface="Play"/>
              </a:rPr>
              <a:t>Reusable proof</a:t>
            </a:r>
          </a:p>
        </p:txBody>
      </p:sp>
      <p:sp>
        <p:nvSpPr>
          <p:cNvPr id="86" name="Google Shape;86;p16">
            <a:extLst xmlns:a="http://schemas.openxmlformats.org/drawingml/2006/main">
              <a:ext uri="{FF2B5EF4-FFF2-40B4-BE49-F238E27FC236}">
                <a16:creationId xmlns:a16="http://schemas.microsoft.com/office/drawing/2014/main" id="{D206136A-C6E0-4835-8E0A-18D3FA24A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050" y="2781963"/>
            <a:ext cx="1686000" cy="44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DDF3EA"/>
                </a:solidFill>
                <a:latin typeface="Arial"/>
                <a:ea typeface="Arial"/>
                <a:cs typeface="Arial"/>
              </a:rPr>
              <a:t>Backs different recipes: field reveal, predicate, expiry, one-time view, revoke.</a:t>
            </a:r>
          </a:p>
        </p:txBody>
      </p:sp>
      <p:sp>
        <p:nvSpPr>
          <p:cNvPr id="87" name="Google Shape;87;p16">
            <a:extLst xmlns:a="http://schemas.openxmlformats.org/drawingml/2006/main">
              <a:ext uri="{FF2B5EF4-FFF2-40B4-BE49-F238E27FC236}">
                <a16:creationId xmlns:a16="http://schemas.microsoft.com/office/drawing/2014/main" id="{06947313-8B29-4D61-9BF5-FC310C89F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050" y="3339175"/>
            <a:ext cx="1500300" cy="2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A"/>
          </a:solidFill>
          <a:ln xmlns:a="http://schemas.openxmlformats.org/drawingml/2006/main" w="9525" cmpd="sng">
            <a:solidFill>
              <a:srgbClr val="DDF3EA"/>
            </a:solidFill>
            <a:prstDash val="solid"/>
          </a:ln>
        </p:spPr>
        <p:txBody>
          <a:bodyPr xmlns:a="http://schemas.openxmlformats.org/drawingml/2006/main" spcFirstLastPara="1" wrap="square" lIns="68575" tIns="68575" rIns="68575" bIns="6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88" name="Google Shape;88;p16">
            <a:extLst xmlns:a="http://schemas.openxmlformats.org/drawingml/2006/main">
              <a:ext uri="{FF2B5EF4-FFF2-40B4-BE49-F238E27FC236}">
                <a16:creationId xmlns:a16="http://schemas.microsoft.com/office/drawing/2014/main" id="{5BB48D79-3A8F-4062-9BFC-C4F18D5C5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88" y="3389181"/>
            <a:ext cx="1357200" cy="1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700" b="1">
                <a:solidFill>
                  <a:srgbClr val="0E7490"/>
                </a:solidFill>
                <a:latin typeface="Arial"/>
                <a:ea typeface="Arial"/>
                <a:cs typeface="Arial"/>
              </a:rPr>
              <a:t>User-controlled disclosure</a:t>
            </a:r>
          </a:p>
        </p:txBody>
      </p:sp>
      <p:sp>
        <p:nvSpPr>
          <p:cNvPr id="89" name="Google Shape;89;p16">
            <a:extLst xmlns:a="http://schemas.openxmlformats.org/drawingml/2006/main">
              <a:ext uri="{FF2B5EF4-FFF2-40B4-BE49-F238E27FC236}">
                <a16:creationId xmlns:a16="http://schemas.microsoft.com/office/drawing/2014/main" id="{9433E318-7435-42B1-B6EA-8CB31235E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425" y="1857375"/>
            <a:ext cx="1453800" cy="105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650" cmpd="sng">
            <a:solidFill>
              <a:srgbClr val="CFE0DE"/>
            </a:solidFill>
            <a:prstDash val="solid"/>
          </a:ln>
        </p:spPr>
        <p:txBody>
          <a:bodyPr xmlns:a="http://schemas.openxmlformats.org/drawingml/2006/main" spcFirstLastPara="1" wrap="square" lIns="76675" tIns="76675" rIns="76675" bIns="766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90" name="Google Shape;90;p16">
            <a:extLst xmlns:a="http://schemas.openxmlformats.org/drawingml/2006/main">
              <a:ext uri="{FF2B5EF4-FFF2-40B4-BE49-F238E27FC236}">
                <a16:creationId xmlns:a16="http://schemas.microsoft.com/office/drawing/2014/main" id="{AEEC9195-A65C-43D3-962E-76E13B98B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8188" y="2010444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91" name="Google Shape;91;p16">
            <a:extLst xmlns:a="http://schemas.openxmlformats.org/drawingml/2006/main">
              <a:ext uri="{FF2B5EF4-FFF2-40B4-BE49-F238E27FC236}">
                <a16:creationId xmlns:a16="http://schemas.microsoft.com/office/drawing/2014/main" id="{C5CCD08A-9932-4898-AAFB-769582288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819" y="2000310"/>
            <a:ext cx="894600" cy="19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065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18" b="1">
                <a:solidFill>
                  <a:srgbClr val="102A2D"/>
                </a:solidFill>
                <a:latin typeface="Arial"/>
                <a:ea typeface="Arial"/>
                <a:cs typeface="Arial"/>
              </a:rPr>
              <a:t>Age gates</a:t>
            </a:r>
          </a:p>
        </p:txBody>
      </p:sp>
      <p:sp>
        <p:nvSpPr>
          <p:cNvPr id="92" name="Google Shape;92;p16">
            <a:extLst xmlns:a="http://schemas.openxmlformats.org/drawingml/2006/main">
              <a:ext uri="{FF2B5EF4-FFF2-40B4-BE49-F238E27FC236}">
                <a16:creationId xmlns:a16="http://schemas.microsoft.com/office/drawing/2014/main" id="{215E45C4-04F6-4E64-B8CB-462542A3A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8198" y="2320643"/>
            <a:ext cx="1158300" cy="36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065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5D7478"/>
                </a:solidFill>
                <a:latin typeface="Arial"/>
                <a:ea typeface="Arial"/>
                <a:cs typeface="Arial"/>
              </a:rPr>
              <a:t>Prove 21+ without DOB</a:t>
            </a:r>
          </a:p>
        </p:txBody>
      </p:sp>
      <p:sp>
        <p:nvSpPr>
          <p:cNvPr id="93" name="Google Shape;93;p16">
            <a:extLst xmlns:a="http://schemas.openxmlformats.org/drawingml/2006/main">
              <a:ext uri="{FF2B5EF4-FFF2-40B4-BE49-F238E27FC236}">
                <a16:creationId xmlns:a16="http://schemas.microsoft.com/office/drawing/2014/main" id="{93F023B3-E9FE-4BE5-85F7-8DA902A3E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1586" y="1857375"/>
            <a:ext cx="1453800" cy="105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650" cmpd="sng">
            <a:solidFill>
              <a:srgbClr val="CFE0DE"/>
            </a:solidFill>
            <a:prstDash val="solid"/>
          </a:ln>
        </p:spPr>
        <p:txBody>
          <a:bodyPr xmlns:a="http://schemas.openxmlformats.org/drawingml/2006/main" spcFirstLastPara="1" wrap="square" lIns="76675" tIns="76675" rIns="76675" bIns="766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94" name="Google Shape;94;p16">
            <a:extLst xmlns:a="http://schemas.openxmlformats.org/drawingml/2006/main">
              <a:ext uri="{FF2B5EF4-FFF2-40B4-BE49-F238E27FC236}">
                <a16:creationId xmlns:a16="http://schemas.microsoft.com/office/drawing/2014/main" id="{3367C967-374E-4FC0-887D-0B71A25EF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5359" y="2009135"/>
            <a:ext cx="191697" cy="191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95" name="Google Shape;95;p16">
            <a:extLst xmlns:a="http://schemas.openxmlformats.org/drawingml/2006/main">
              <a:ext uri="{FF2B5EF4-FFF2-40B4-BE49-F238E27FC236}">
                <a16:creationId xmlns:a16="http://schemas.microsoft.com/office/drawing/2014/main" id="{5EFE5310-8D86-42D9-8C6E-737CE36FC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2904" y="2001148"/>
            <a:ext cx="894600" cy="19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065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18" b="1">
                <a:solidFill>
                  <a:srgbClr val="102A2D"/>
                </a:solidFill>
                <a:latin typeface="Arial"/>
                <a:ea typeface="Arial"/>
                <a:cs typeface="Arial"/>
              </a:rPr>
              <a:t>Hiring</a:t>
            </a:r>
          </a:p>
        </p:txBody>
      </p:sp>
      <p:sp>
        <p:nvSpPr>
          <p:cNvPr id="96" name="Google Shape;96;p16">
            <a:extLst xmlns:a="http://schemas.openxmlformats.org/drawingml/2006/main">
              <a:ext uri="{FF2B5EF4-FFF2-40B4-BE49-F238E27FC236}">
                <a16:creationId xmlns:a16="http://schemas.microsoft.com/office/drawing/2014/main" id="{AEE24308-18C0-429D-8829-FAE0469C4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5359" y="2320643"/>
            <a:ext cx="1158300" cy="36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065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5D7478"/>
                </a:solidFill>
                <a:latin typeface="Arial"/>
                <a:ea typeface="Arial"/>
                <a:cs typeface="Arial"/>
              </a:rPr>
              <a:t>Prove employer exists</a:t>
            </a:r>
          </a:p>
        </p:txBody>
      </p:sp>
      <p:sp>
        <p:nvSpPr>
          <p:cNvPr id="97" name="Google Shape;97;p16">
            <a:extLst xmlns:a="http://schemas.openxmlformats.org/drawingml/2006/main">
              <a:ext uri="{FF2B5EF4-FFF2-40B4-BE49-F238E27FC236}">
                <a16:creationId xmlns:a16="http://schemas.microsoft.com/office/drawing/2014/main" id="{A5682A3D-2A54-4542-A8FF-06D619FB3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8747" y="1857375"/>
            <a:ext cx="1453800" cy="105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650" cmpd="sng">
            <a:solidFill>
              <a:srgbClr val="CFE0DE"/>
            </a:solidFill>
            <a:prstDash val="solid"/>
          </a:ln>
        </p:spPr>
        <p:txBody>
          <a:bodyPr xmlns:a="http://schemas.openxmlformats.org/drawingml/2006/main" spcFirstLastPara="1" wrap="square" lIns="76675" tIns="76675" rIns="76675" bIns="766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98" name="Google Shape;98;p16">
            <a:extLst xmlns:a="http://schemas.openxmlformats.org/drawingml/2006/main">
              <a:ext uri="{FF2B5EF4-FFF2-40B4-BE49-F238E27FC236}">
                <a16:creationId xmlns:a16="http://schemas.microsoft.com/office/drawing/2014/main" id="{10D7F788-56CF-49EE-B4E4-2F57E6C9E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2519" y="2009135"/>
            <a:ext cx="191697" cy="191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99" name="Google Shape;99;p16">
            <a:extLst xmlns:a="http://schemas.openxmlformats.org/drawingml/2006/main">
              <a:ext uri="{FF2B5EF4-FFF2-40B4-BE49-F238E27FC236}">
                <a16:creationId xmlns:a16="http://schemas.microsoft.com/office/drawing/2014/main" id="{2CE58F59-0514-4DE4-9F18-C7BB1CD7A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065" y="2001148"/>
            <a:ext cx="894600" cy="19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065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18" b="1">
                <a:solidFill>
                  <a:srgbClr val="102A2D"/>
                </a:solidFill>
                <a:latin typeface="Arial"/>
                <a:ea typeface="Arial"/>
                <a:cs typeface="Arial"/>
              </a:rPr>
              <a:t>Fintech</a:t>
            </a:r>
          </a:p>
        </p:txBody>
      </p:sp>
      <p:sp>
        <p:nvSpPr>
          <p:cNvPr id="100" name="Google Shape;100;p16">
            <a:extLst xmlns:a="http://schemas.openxmlformats.org/drawingml/2006/main">
              <a:ext uri="{FF2B5EF4-FFF2-40B4-BE49-F238E27FC236}">
                <a16:creationId xmlns:a16="http://schemas.microsoft.com/office/drawing/2014/main" id="{B4451989-04A5-4A37-84C7-0556153C8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2519" y="2320643"/>
            <a:ext cx="1158300" cy="36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065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5D7478"/>
                </a:solidFill>
                <a:latin typeface="Arial"/>
                <a:ea typeface="Arial"/>
                <a:cs typeface="Arial"/>
              </a:rPr>
              <a:t>Income threshold, not salary</a:t>
            </a:r>
          </a:p>
        </p:txBody>
      </p:sp>
      <p:sp>
        <p:nvSpPr>
          <p:cNvPr id="101" name="Google Shape;101;p16">
            <a:extLst xmlns:a="http://schemas.openxmlformats.org/drawingml/2006/main">
              <a:ext uri="{FF2B5EF4-FFF2-40B4-BE49-F238E27FC236}">
                <a16:creationId xmlns:a16="http://schemas.microsoft.com/office/drawing/2014/main" id="{80DFBD77-02DA-404D-A22E-16CFD817E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8075" y="3145115"/>
            <a:ext cx="1453800" cy="105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650" cmpd="sng">
            <a:solidFill>
              <a:srgbClr val="CFE0DE"/>
            </a:solidFill>
            <a:prstDash val="solid"/>
          </a:ln>
        </p:spPr>
        <p:txBody>
          <a:bodyPr xmlns:a="http://schemas.openxmlformats.org/drawingml/2006/main" spcFirstLastPara="1" wrap="square" lIns="76675" tIns="76675" rIns="76675" bIns="766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02" name="Google Shape;102;p16">
            <a:extLst xmlns:a="http://schemas.openxmlformats.org/drawingml/2006/main">
              <a:ext uri="{FF2B5EF4-FFF2-40B4-BE49-F238E27FC236}">
                <a16:creationId xmlns:a16="http://schemas.microsoft.com/office/drawing/2014/main" id="{39EE2DD8-BF64-4AC8-BECC-6278BA93E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1848" y="3296875"/>
            <a:ext cx="191697" cy="191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103" name="Google Shape;103;p16">
            <a:extLst xmlns:a="http://schemas.openxmlformats.org/drawingml/2006/main">
              <a:ext uri="{FF2B5EF4-FFF2-40B4-BE49-F238E27FC236}">
                <a16:creationId xmlns:a16="http://schemas.microsoft.com/office/drawing/2014/main" id="{C09A9EAA-75D6-4974-9394-4FE3E6835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150" y="3288900"/>
            <a:ext cx="925800" cy="19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065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18" b="1">
                <a:solidFill>
                  <a:srgbClr val="102A2D"/>
                </a:solidFill>
                <a:latin typeface="Arial"/>
                <a:ea typeface="Arial"/>
                <a:cs typeface="Arial"/>
              </a:rPr>
              <a:t>Marketplaces</a:t>
            </a:r>
          </a:p>
        </p:txBody>
      </p:sp>
      <p:sp>
        <p:nvSpPr>
          <p:cNvPr id="104" name="Google Shape;104;p16">
            <a:extLst xmlns:a="http://schemas.openxmlformats.org/drawingml/2006/main">
              <a:ext uri="{FF2B5EF4-FFF2-40B4-BE49-F238E27FC236}">
                <a16:creationId xmlns:a16="http://schemas.microsoft.com/office/drawing/2014/main" id="{F57AA546-0041-4E77-85A9-3106CD62A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1848" y="3608383"/>
            <a:ext cx="1158300" cy="36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065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5D7478"/>
                </a:solidFill>
                <a:latin typeface="Arial"/>
                <a:ea typeface="Arial"/>
                <a:cs typeface="Arial"/>
              </a:rPr>
              <a:t>Account ownership + reputation</a:t>
            </a:r>
          </a:p>
        </p:txBody>
      </p:sp>
      <p:sp>
        <p:nvSpPr>
          <p:cNvPr id="105" name="Google Shape;105;p16">
            <a:extLst xmlns:a="http://schemas.openxmlformats.org/drawingml/2006/main">
              <a:ext uri="{FF2B5EF4-FFF2-40B4-BE49-F238E27FC236}">
                <a16:creationId xmlns:a16="http://schemas.microsoft.com/office/drawing/2014/main" id="{6051C18B-9672-4EDA-BB16-63A4C0DDA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1479" y="3145103"/>
            <a:ext cx="1453800" cy="105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650" cmpd="sng">
            <a:solidFill>
              <a:srgbClr val="CFE0DE"/>
            </a:solidFill>
            <a:prstDash val="solid"/>
          </a:ln>
        </p:spPr>
        <p:txBody>
          <a:bodyPr xmlns:a="http://schemas.openxmlformats.org/drawingml/2006/main" spcFirstLastPara="1" wrap="square" lIns="76675" tIns="76675" rIns="76675" bIns="766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06" name="Google Shape;106;p16">
            <a:extLst xmlns:a="http://schemas.openxmlformats.org/drawingml/2006/main">
              <a:ext uri="{FF2B5EF4-FFF2-40B4-BE49-F238E27FC236}">
                <a16:creationId xmlns:a16="http://schemas.microsoft.com/office/drawing/2014/main" id="{AF66153B-4350-4716-9B14-DCA5272D8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5252" y="3296863"/>
            <a:ext cx="191697" cy="191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107" name="Google Shape;107;p16">
            <a:extLst xmlns:a="http://schemas.openxmlformats.org/drawingml/2006/main">
              <a:ext uri="{FF2B5EF4-FFF2-40B4-BE49-F238E27FC236}">
                <a16:creationId xmlns:a16="http://schemas.microsoft.com/office/drawing/2014/main" id="{309C7B48-5308-481D-8E6D-9FE234637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2798" y="3288876"/>
            <a:ext cx="894600" cy="19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065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18" b="1">
                <a:solidFill>
                  <a:srgbClr val="102A2D"/>
                </a:solidFill>
                <a:latin typeface="Arial"/>
                <a:ea typeface="Arial"/>
                <a:cs typeface="Arial"/>
              </a:rPr>
              <a:t>Travel</a:t>
            </a:r>
          </a:p>
        </p:txBody>
      </p:sp>
      <p:sp>
        <p:nvSpPr>
          <p:cNvPr id="108" name="Google Shape;108;p16">
            <a:extLst xmlns:a="http://schemas.openxmlformats.org/drawingml/2006/main">
              <a:ext uri="{FF2B5EF4-FFF2-40B4-BE49-F238E27FC236}">
                <a16:creationId xmlns:a16="http://schemas.microsoft.com/office/drawing/2014/main" id="{21E6C95D-2780-431A-B9F9-835731B39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5252" y="3608371"/>
            <a:ext cx="1158300" cy="36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065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5D7478"/>
                </a:solidFill>
                <a:latin typeface="Arial"/>
                <a:ea typeface="Arial"/>
                <a:cs typeface="Arial"/>
              </a:rPr>
              <a:t>Ride activity without trip history</a:t>
            </a:r>
          </a:p>
        </p:txBody>
      </p:sp>
      <p:sp>
        <p:nvSpPr>
          <p:cNvPr id="109" name="Google Shape;109;p16">
            <a:extLst xmlns:a="http://schemas.openxmlformats.org/drawingml/2006/main">
              <a:ext uri="{FF2B5EF4-FFF2-40B4-BE49-F238E27FC236}">
                <a16:creationId xmlns:a16="http://schemas.microsoft.com/office/drawing/2014/main" id="{933257A2-5751-461F-89D5-AE5B67407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25" y="4309538"/>
            <a:ext cx="8001000" cy="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0DE"/>
          </a:solidFill>
          <a:ln xmlns:a="http://schemas.openxmlformats.org/drawingml/2006/main" w="9525" cmpd="sng">
            <a:solidFill>
              <a:srgbClr val="CFE0DE"/>
            </a:solidFill>
            <a:prstDash val="solid"/>
          </a:ln>
        </p:spPr>
        <p:txBody>
          <a:bodyPr xmlns:a="http://schemas.openxmlformats.org/drawingml/2006/main" spcFirstLastPara="1" wrap="square" lIns="68575" tIns="68575" rIns="68575" bIns="6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10" name="Google Shape;110;p16">
            <a:extLst xmlns:a="http://schemas.openxmlformats.org/drawingml/2006/main">
              <a:ext uri="{FF2B5EF4-FFF2-40B4-BE49-F238E27FC236}">
                <a16:creationId xmlns:a16="http://schemas.microsoft.com/office/drawing/2014/main" id="{FB48B8D9-3BAE-474E-8CFB-EE1ED7F88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075" y="4432850"/>
            <a:ext cx="984900" cy="1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99" b="1">
                <a:solidFill>
                  <a:srgbClr val="0D7943"/>
                </a:solidFill>
                <a:latin typeface="Arial"/>
                <a:ea typeface="Arial"/>
                <a:cs typeface="Arial"/>
              </a:rPr>
              <a:t>Verifier receives</a:t>
            </a:r>
          </a:p>
        </p:txBody>
      </p:sp>
      <p:sp>
        <p:nvSpPr>
          <p:cNvPr id="111" name="Google Shape;111;p16">
            <a:extLst xmlns:a="http://schemas.openxmlformats.org/drawingml/2006/main">
              <a:ext uri="{FF2B5EF4-FFF2-40B4-BE49-F238E27FC236}">
                <a16:creationId xmlns:a16="http://schemas.microsoft.com/office/drawing/2014/main" id="{6DA2E1A7-520D-4320-A535-D5093C372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1063" y="4432850"/>
            <a:ext cx="2410500" cy="31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99" b="0">
                <a:solidFill>
                  <a:srgbClr val="102A2D"/>
                </a:solidFill>
                <a:latin typeface="Arial"/>
                <a:ea typeface="Arial"/>
                <a:cs typeface="Arial"/>
              </a:rPr>
              <a:t>status + scoped claims +</a:t>
            </a:r>
            <a:r>
              <a:rPr sz="999" b="0">
                <a:solidFill>
                  <a:srgbClr val="102A2D"/>
                </a:solidFill>
                <a:latin typeface="Arial"/>
                <a:ea typeface="Arial"/>
                <a:cs typeface="Arial"/>
              </a:rPr>
              <a:t> predicate </a:t>
            </a:r>
            <a:r>
              <a:rPr sz="999" b="0">
                <a:solidFill>
                  <a:srgbClr val="102A2D"/>
                </a:solidFill>
                <a:latin typeface="Arial"/>
                <a:ea typeface="Arial"/>
                <a:cs typeface="Arial"/>
              </a:rPr>
              <a:t>outcomes + receipt</a:t>
            </a:r>
          </a:p>
        </p:txBody>
      </p:sp>
      <p:sp>
        <p:nvSpPr>
          <p:cNvPr id="112" name="Google Shape;112;p16">
            <a:extLst xmlns:a="http://schemas.openxmlformats.org/drawingml/2006/main">
              <a:ext uri="{FF2B5EF4-FFF2-40B4-BE49-F238E27FC236}">
                <a16:creationId xmlns:a16="http://schemas.microsoft.com/office/drawing/2014/main" id="{77ED9431-BDAA-4CDC-A38C-865ECF0F0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828" y="4432850"/>
            <a:ext cx="1356000" cy="1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99" b="1">
                <a:solidFill>
                  <a:srgbClr val="A8261B"/>
                </a:solidFill>
                <a:latin typeface="Arial"/>
                <a:ea typeface="Arial"/>
                <a:cs typeface="Arial"/>
              </a:rPr>
              <a:t>Verifier does not receive</a:t>
            </a:r>
          </a:p>
        </p:txBody>
      </p:sp>
      <p:sp>
        <p:nvSpPr>
          <p:cNvPr id="113" name="Google Shape;113;p16">
            <a:extLst xmlns:a="http://schemas.openxmlformats.org/drawingml/2006/main">
              <a:ext uri="{FF2B5EF4-FFF2-40B4-BE49-F238E27FC236}">
                <a16:creationId xmlns:a16="http://schemas.microsoft.com/office/drawing/2014/main" id="{B86541E6-9806-4FBB-9C23-2AA2E37A6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5879" y="4432850"/>
            <a:ext cx="2241000" cy="1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99" b="0">
                <a:solidFill>
                  <a:srgbClr val="102A2D"/>
                </a:solidFill>
                <a:latin typeface="Arial"/>
                <a:ea typeface="Arial"/>
                <a:cs typeface="Arial"/>
              </a:rPr>
              <a:t>login, raw proof, full transcript, unrelated fields </a:t>
            </a:r>
          </a:p>
        </p:txBody>
      </p:sp>
      <p:sp>
        <p:nvSpPr>
          <p:cNvPr id="114" name="Google Shape;114;p16">
            <a:extLst xmlns:a="http://schemas.openxmlformats.org/drawingml/2006/main">
              <a:ext uri="{FF2B5EF4-FFF2-40B4-BE49-F238E27FC236}">
                <a16:creationId xmlns:a16="http://schemas.microsoft.com/office/drawing/2014/main" id="{B7BB53E2-49EF-485A-AF71-E542B83D6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3906" y="4843463"/>
            <a:ext cx="285900" cy="1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700" b="1">
                <a:solidFill>
                  <a:srgbClr val="789094"/>
                </a:solidFill>
                <a:latin typeface="Arial"/>
                <a:ea typeface="Arial"/>
                <a:cs typeface="Arial"/>
              </a:rPr>
              <a:t>0</a:t>
            </a:r>
            <a:r>
              <a:rPr sz="700" b="1">
                <a:solidFill>
                  <a:srgbClr val="789094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30573413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0" name="Google Shape;120;p17">
            <a:extLst xmlns:a="http://schemas.openxmlformats.org/drawingml/2006/main">
              <a:ext uri="{FF2B5EF4-FFF2-40B4-BE49-F238E27FC236}">
                <a16:creationId xmlns:a16="http://schemas.microsoft.com/office/drawing/2014/main" id="{DC1EB6BD-6CC5-4D15-9DD4-431A42D78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2"/>
          </a:solidFill>
          <a:ln xmlns:a="http://schemas.openxmlformats.org/drawingml/2006/main" w="9525" cmpd="sng">
            <a:solidFill>
              <a:srgbClr val="F7F7F2"/>
            </a:solidFill>
            <a:prstDash val="solid"/>
          </a:ln>
        </p:spPr>
        <p:txBody>
          <a:bodyPr xmlns:a="http://schemas.openxmlformats.org/drawingml/2006/main" spcFirstLastPara="1" wrap="square" lIns="68575" tIns="68575" rIns="68575" bIns="6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21" name="Google Shape;121;p17">
            <a:extLst xmlns:a="http://schemas.openxmlformats.org/drawingml/2006/main">
              <a:ext uri="{FF2B5EF4-FFF2-40B4-BE49-F238E27FC236}">
                <a16:creationId xmlns:a16="http://schemas.microsoft.com/office/drawing/2014/main" id="{03E162C8-88A2-4553-80A2-9B4A92ADB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00" y="2285838"/>
            <a:ext cx="3829200" cy="5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4800" b="1">
                <a:solidFill>
                  <a:srgbClr val="2E5BFF"/>
                </a:solidFill>
                <a:latin typeface="Arial"/>
                <a:ea typeface="Arial"/>
                <a:cs typeface="Arial"/>
              </a:rPr>
              <a:t>LIVE DEMO</a:t>
            </a:r>
          </a:p>
        </p:txBody>
      </p:sp>
      <p:sp>
        <p:nvSpPr>
          <p:cNvPr id="122" name="Google Shape;122;p17">
            <a:extLst xmlns:a="http://schemas.openxmlformats.org/drawingml/2006/main">
              <a:ext uri="{FF2B5EF4-FFF2-40B4-BE49-F238E27FC236}">
                <a16:creationId xmlns:a16="http://schemas.microsoft.com/office/drawing/2014/main" id="{029E3FF3-2A4C-4941-8D16-3FD728C31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3906" y="4843463"/>
            <a:ext cx="285900" cy="1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700" b="1">
                <a:solidFill>
                  <a:srgbClr val="789094"/>
                </a:solidFill>
                <a:latin typeface="Arial"/>
                <a:ea typeface="Arial"/>
                <a:cs typeface="Arial"/>
              </a:rPr>
              <a:t>0</a:t>
            </a:r>
            <a:r>
              <a:rPr sz="700" b="1">
                <a:solidFill>
                  <a:srgbClr val="789094"/>
                </a:solidFill>
              </a:rPr>
              <a:t>3</a:t>
            </a:r>
          </a:p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78762940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8" name="Google Shape;128;p18">
            <a:extLst xmlns:a="http://schemas.openxmlformats.org/drawingml/2006/main">
              <a:ext uri="{FF2B5EF4-FFF2-40B4-BE49-F238E27FC236}">
                <a16:creationId xmlns:a16="http://schemas.microsoft.com/office/drawing/2014/main" id="{AD2BE0A6-263D-420F-B93E-703623E8A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2"/>
          </a:solidFill>
          <a:ln xmlns:a="http://schemas.openxmlformats.org/drawingml/2006/main" w="9525" cmpd="sng">
            <a:solidFill>
              <a:srgbClr val="F7F7F2"/>
            </a:solidFill>
            <a:prstDash val="solid"/>
          </a:ln>
        </p:spPr>
        <p:txBody>
          <a:bodyPr xmlns:a="http://schemas.openxmlformats.org/drawingml/2006/main" spcFirstLastPara="1" wrap="square" lIns="68575" tIns="68575" rIns="68575" bIns="6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29" name="Google Shape;129;p18">
            <a:extLst xmlns:a="http://schemas.openxmlformats.org/drawingml/2006/main">
              <a:ext uri="{FF2B5EF4-FFF2-40B4-BE49-F238E27FC236}">
                <a16:creationId xmlns:a16="http://schemas.microsoft.com/office/drawing/2014/main" id="{45D9FD76-F75C-4B6F-847C-AF7C09DA4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2400"/>
            <a:ext cx="3714900" cy="1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0E7490"/>
                </a:solidFill>
                <a:latin typeface="Arial"/>
                <a:ea typeface="Arial"/>
                <a:cs typeface="Arial"/>
              </a:rPr>
              <a:t>HOW IT WORKS</a:t>
            </a:r>
          </a:p>
        </p:txBody>
      </p:sp>
      <p:sp>
        <p:nvSpPr>
          <p:cNvPr id="130" name="Google Shape;130;p18">
            <a:extLst xmlns:a="http://schemas.openxmlformats.org/drawingml/2006/main">
              <a:ext uri="{FF2B5EF4-FFF2-40B4-BE49-F238E27FC236}">
                <a16:creationId xmlns:a16="http://schemas.microsoft.com/office/drawing/2014/main" id="{A93F57FD-01E5-4BAE-8BCD-24AD376BC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5715000" cy="5000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02A2D"/>
                </a:solidFill>
                <a:latin typeface="Play"/>
                <a:ea typeface="Play"/>
                <a:cs typeface="Play"/>
              </a:rPr>
              <a:t>The raw proof stays behind a narrow verification pipeline.</a:t>
            </a:r>
          </a:p>
        </p:txBody>
      </p:sp>
      <p:sp>
        <p:nvSpPr>
          <p:cNvPr id="131" name="Google Shape;131;p18">
            <a:extLst xmlns:a="http://schemas.openxmlformats.org/drawingml/2006/main">
              <a:ext uri="{FF2B5EF4-FFF2-40B4-BE49-F238E27FC236}">
                <a16:creationId xmlns:a16="http://schemas.microsoft.com/office/drawing/2014/main" id="{7E4F6283-487E-4F03-9B9E-44EECB6F1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8" y="1457325"/>
            <a:ext cx="5857875" cy="3000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5D7478"/>
                </a:solidFill>
                <a:latin typeface="Arial"/>
                <a:ea typeface="Arial"/>
                <a:cs typeface="Arial"/>
              </a:rPr>
              <a:t>The user creates a </a:t>
            </a:r>
            <a:r>
              <a:rPr sz="1000">
                <a:solidFill>
                  <a:srgbClr val="5D7478"/>
                </a:solidFill>
              </a:rPr>
              <a:t>web </a:t>
            </a:r>
            <a:r>
              <a:rPr sz="1000" b="0">
                <a:solidFill>
                  <a:srgbClr val="5D7478"/>
                </a:solidFill>
                <a:latin typeface="Arial"/>
                <a:ea typeface="Arial"/>
                <a:cs typeface="Arial"/>
              </a:rPr>
              <a:t>proof, stores it encrypted locally, then mints a scoped token. The recipient portal only renders claims after server-side verification succeeds.</a:t>
            </a:r>
          </a:p>
        </p:txBody>
      </p:sp>
      <p:sp>
        <p:nvSpPr>
          <p:cNvPr id="132" name="Google Shape;132;p18">
            <a:extLst xmlns:a="http://schemas.openxmlformats.org/drawingml/2006/main">
              <a:ext uri="{FF2B5EF4-FFF2-40B4-BE49-F238E27FC236}">
                <a16:creationId xmlns:a16="http://schemas.microsoft.com/office/drawing/2014/main" id="{03A06BA9-21F6-4887-8345-2A64464A6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38" y="2297925"/>
            <a:ext cx="1357200" cy="8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A"/>
          </a:solidFill>
          <a:ln xmlns:a="http://schemas.openxmlformats.org/drawingml/2006/main" w="9525" cmpd="sng">
            <a:solidFill>
              <a:srgbClr val="CFE0DE"/>
            </a:solidFill>
            <a:prstDash val="solid"/>
          </a:ln>
        </p:spPr>
        <p:txBody>
          <a:bodyPr xmlns:a="http://schemas.openxmlformats.org/drawingml/2006/main" spcFirstLastPara="1" wrap="square" lIns="68575" tIns="68575" rIns="68575" bIns="6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33" name="Google Shape;133;p18">
            <a:extLst xmlns:a="http://schemas.openxmlformats.org/drawingml/2006/main">
              <a:ext uri="{FF2B5EF4-FFF2-40B4-BE49-F238E27FC236}">
                <a16:creationId xmlns:a16="http://schemas.microsoft.com/office/drawing/2014/main" id="{4595C690-DD53-4CF4-BC11-4BDA4856E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025" y="2426513"/>
            <a:ext cx="1100100" cy="18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0E7490"/>
                </a:solidFill>
                <a:latin typeface="Arial"/>
                <a:ea typeface="Arial"/>
                <a:cs typeface="Arial"/>
              </a:rPr>
              <a:t>Flutter app</a:t>
            </a:r>
          </a:p>
        </p:txBody>
      </p:sp>
      <p:sp>
        <p:nvSpPr>
          <p:cNvPr id="134" name="Google Shape;134;p18">
            <a:extLst xmlns:a="http://schemas.openxmlformats.org/drawingml/2006/main">
              <a:ext uri="{FF2B5EF4-FFF2-40B4-BE49-F238E27FC236}">
                <a16:creationId xmlns:a16="http://schemas.microsoft.com/office/drawing/2014/main" id="{9C99780A-CB90-4E65-BCD0-F41C75B20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025" y="2655113"/>
            <a:ext cx="1100100" cy="4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5D7478"/>
                </a:solidFill>
                <a:latin typeface="Arial"/>
                <a:ea typeface="Arial"/>
                <a:cs typeface="Arial"/>
              </a:rPr>
              <a:t>Generate proof + choose fields or predicates</a:t>
            </a:r>
          </a:p>
        </p:txBody>
      </p:sp>
      <p:sp>
        <p:nvSpPr>
          <p:cNvPr id="135" name="Google Shape;135;p18">
            <a:extLst xmlns:a="http://schemas.openxmlformats.org/drawingml/2006/main">
              <a:ext uri="{FF2B5EF4-FFF2-40B4-BE49-F238E27FC236}">
                <a16:creationId xmlns:a16="http://schemas.microsoft.com/office/drawing/2014/main" id="{98D954F4-AA5F-4D18-A6E3-E3B4A5E95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7363" y="2297925"/>
            <a:ext cx="1571700" cy="8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CFE0DE"/>
            </a:solidFill>
            <a:prstDash val="solid"/>
          </a:ln>
        </p:spPr>
        <p:txBody>
          <a:bodyPr xmlns:a="http://schemas.openxmlformats.org/drawingml/2006/main" spcFirstLastPara="1" wrap="square" lIns="68575" tIns="68575" rIns="68575" bIns="6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36" name="Google Shape;136;p18">
            <a:extLst xmlns:a="http://schemas.openxmlformats.org/drawingml/2006/main">
              <a:ext uri="{FF2B5EF4-FFF2-40B4-BE49-F238E27FC236}">
                <a16:creationId xmlns:a16="http://schemas.microsoft.com/office/drawing/2014/main" id="{574963E5-6607-41D2-BFD8-1390E5D48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5950" y="2426513"/>
            <a:ext cx="1314600" cy="18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102A2D"/>
                </a:solidFill>
                <a:latin typeface="Arial"/>
                <a:ea typeface="Arial"/>
                <a:cs typeface="Arial"/>
              </a:rPr>
              <a:t>Local vault</a:t>
            </a:r>
          </a:p>
        </p:txBody>
      </p:sp>
      <p:sp>
        <p:nvSpPr>
          <p:cNvPr id="137" name="Google Shape;137;p18">
            <a:extLst xmlns:a="http://schemas.openxmlformats.org/drawingml/2006/main">
              <a:ext uri="{FF2B5EF4-FFF2-40B4-BE49-F238E27FC236}">
                <a16:creationId xmlns:a16="http://schemas.microsoft.com/office/drawing/2014/main" id="{3BA2538B-B4C6-4C04-97CF-0A0BAC4F5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5950" y="2655113"/>
            <a:ext cx="1314600" cy="4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5D7478"/>
                </a:solidFill>
                <a:latin typeface="Arial"/>
                <a:ea typeface="Arial"/>
                <a:cs typeface="Arial"/>
              </a:rPr>
              <a:t>SQLite + AES-GCM; key in Keychain / Keystore</a:t>
            </a:r>
          </a:p>
        </p:txBody>
      </p:sp>
      <p:sp>
        <p:nvSpPr>
          <p:cNvPr id="138" name="Google Shape;138;p18">
            <a:extLst xmlns:a="http://schemas.openxmlformats.org/drawingml/2006/main">
              <a:ext uri="{FF2B5EF4-FFF2-40B4-BE49-F238E27FC236}">
                <a16:creationId xmlns:a16="http://schemas.microsoft.com/office/drawing/2014/main" id="{81DCD0A7-E97D-4BE5-B89A-DFF997E9D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7600" y="2297925"/>
            <a:ext cx="1500300" cy="8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F"/>
          </a:solidFill>
          <a:ln xmlns:a="http://schemas.openxmlformats.org/drawingml/2006/main" w="9525" cmpd="sng">
            <a:solidFill>
              <a:srgbClr val="CFE0DE"/>
            </a:solidFill>
            <a:prstDash val="solid"/>
          </a:ln>
        </p:spPr>
        <p:txBody>
          <a:bodyPr xmlns:a="http://schemas.openxmlformats.org/drawingml/2006/main" spcFirstLastPara="1" wrap="square" lIns="68575" tIns="68575" rIns="68575" bIns="6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39" name="Google Shape;139;p18">
            <a:extLst xmlns:a="http://schemas.openxmlformats.org/drawingml/2006/main">
              <a:ext uri="{FF2B5EF4-FFF2-40B4-BE49-F238E27FC236}">
                <a16:creationId xmlns:a16="http://schemas.microsoft.com/office/drawing/2014/main" id="{F75A84CE-AD9F-4781-8274-2EF22947A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6188" y="2426513"/>
            <a:ext cx="1242900" cy="18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2E5BFF"/>
                </a:solidFill>
                <a:latin typeface="Arial"/>
                <a:ea typeface="Arial"/>
                <a:cs typeface="Arial"/>
              </a:rPr>
              <a:t>share_service</a:t>
            </a:r>
          </a:p>
        </p:txBody>
      </p:sp>
      <p:sp>
        <p:nvSpPr>
          <p:cNvPr id="140" name="Google Shape;140;p18">
            <a:extLst xmlns:a="http://schemas.openxmlformats.org/drawingml/2006/main">
              <a:ext uri="{FF2B5EF4-FFF2-40B4-BE49-F238E27FC236}">
                <a16:creationId xmlns:a16="http://schemas.microsoft.com/office/drawing/2014/main" id="{94180540-A87A-4F69-AF7C-4EFAC2075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6188" y="2655113"/>
            <a:ext cx="1242900" cy="4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5D7478"/>
                </a:solidFill>
                <a:latin typeface="Arial"/>
                <a:ea typeface="Arial"/>
                <a:cs typeface="Arial"/>
              </a:rPr>
              <a:t>Encrypted blob store, tokens, revoke, receipts</a:t>
            </a:r>
          </a:p>
        </p:txBody>
      </p:sp>
      <p:sp>
        <p:nvSpPr>
          <p:cNvPr id="141" name="Google Shape;141;p18">
            <a:extLst xmlns:a="http://schemas.openxmlformats.org/drawingml/2006/main">
              <a:ext uri="{FF2B5EF4-FFF2-40B4-BE49-F238E27FC236}">
                <a16:creationId xmlns:a16="http://schemas.microsoft.com/office/drawing/2014/main" id="{929C223A-D168-424B-A106-F62419495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2113" y="2297925"/>
            <a:ext cx="1386000" cy="8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CFE0DE"/>
            </a:solidFill>
            <a:prstDash val="solid"/>
          </a:ln>
        </p:spPr>
        <p:txBody>
          <a:bodyPr xmlns:a="http://schemas.openxmlformats.org/drawingml/2006/main" spcFirstLastPara="1" wrap="square" lIns="68575" tIns="68575" rIns="68575" bIns="6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42" name="Google Shape;142;p18">
            <a:extLst xmlns:a="http://schemas.openxmlformats.org/drawingml/2006/main">
              <a:ext uri="{FF2B5EF4-FFF2-40B4-BE49-F238E27FC236}">
                <a16:creationId xmlns:a16="http://schemas.microsoft.com/office/drawing/2014/main" id="{8F7DCBE3-67FB-468F-A155-BEBDA9FD1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0700" y="2426513"/>
            <a:ext cx="1128600" cy="18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102A2D"/>
                </a:solidFill>
              </a:rPr>
              <a:t>Proof</a:t>
            </a:r>
            <a:r>
              <a:rPr sz="1300" b="1">
                <a:solidFill>
                  <a:srgbClr val="102A2D"/>
                </a:solidFill>
                <a:latin typeface="Arial"/>
                <a:ea typeface="Arial"/>
                <a:cs typeface="Arial"/>
              </a:rPr>
              <a:t> verifier</a:t>
            </a:r>
          </a:p>
        </p:txBody>
      </p:sp>
      <p:sp>
        <p:nvSpPr>
          <p:cNvPr id="143" name="Google Shape;143;p18">
            <a:extLst xmlns:a="http://schemas.openxmlformats.org/drawingml/2006/main">
              <a:ext uri="{FF2B5EF4-FFF2-40B4-BE49-F238E27FC236}">
                <a16:creationId xmlns:a16="http://schemas.microsoft.com/office/drawing/2014/main" id="{244C85C9-73E5-4941-8256-6A2709E1C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0700" y="2655113"/>
            <a:ext cx="1128600" cy="4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5D7478"/>
                </a:solidFill>
                <a:latin typeface="Arial"/>
                <a:ea typeface="Arial"/>
                <a:cs typeface="Arial"/>
              </a:rPr>
              <a:t>POST /v1/artifacts/verify checks notary proof</a:t>
            </a:r>
          </a:p>
        </p:txBody>
      </p:sp>
      <p:sp>
        <p:nvSpPr>
          <p:cNvPr id="144" name="Google Shape;144;p18">
            <a:extLst xmlns:a="http://schemas.openxmlformats.org/drawingml/2006/main">
              <a:ext uri="{FF2B5EF4-FFF2-40B4-BE49-F238E27FC236}">
                <a16:creationId xmlns:a16="http://schemas.microsoft.com/office/drawing/2014/main" id="{8D3DA4C0-B05F-4154-89A2-26742B76D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3750" y="2297925"/>
            <a:ext cx="1228800" cy="8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CFE0DE"/>
            </a:solidFill>
            <a:prstDash val="solid"/>
          </a:ln>
        </p:spPr>
        <p:txBody>
          <a:bodyPr xmlns:a="http://schemas.openxmlformats.org/drawingml/2006/main" spcFirstLastPara="1" wrap="square" lIns="68575" tIns="68575" rIns="68575" bIns="6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45" name="Google Shape;145;p18">
            <a:extLst xmlns:a="http://schemas.openxmlformats.org/drawingml/2006/main">
              <a:ext uri="{FF2B5EF4-FFF2-40B4-BE49-F238E27FC236}">
                <a16:creationId xmlns:a16="http://schemas.microsoft.com/office/drawing/2014/main" id="{8B29E801-9116-4C08-BA6E-35BDD2EE1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2338" y="2426513"/>
            <a:ext cx="971700" cy="18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102A2D"/>
                </a:solidFill>
                <a:latin typeface="Arial"/>
                <a:ea typeface="Arial"/>
                <a:cs typeface="Arial"/>
              </a:rPr>
              <a:t>web_portal</a:t>
            </a:r>
          </a:p>
        </p:txBody>
      </p:sp>
      <p:sp>
        <p:nvSpPr>
          <p:cNvPr id="146" name="Google Shape;146;p18">
            <a:extLst xmlns:a="http://schemas.openxmlformats.org/drawingml/2006/main">
              <a:ext uri="{FF2B5EF4-FFF2-40B4-BE49-F238E27FC236}">
                <a16:creationId xmlns:a16="http://schemas.microsoft.com/office/drawing/2014/main" id="{CD8D054F-A71A-4D64-8F25-948129A03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2338" y="2655113"/>
            <a:ext cx="971700" cy="4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5D7478"/>
                </a:solidFill>
                <a:latin typeface="Arial"/>
                <a:ea typeface="Arial"/>
                <a:cs typeface="Arial"/>
              </a:rPr>
              <a:t>No-install browser view: status + scoped claims</a:t>
            </a:r>
          </a:p>
        </p:txBody>
      </p:sp>
      <p:sp>
        <p:nvSpPr>
          <p:cNvPr id="147" name="Google Shape;147;p18">
            <a:extLst xmlns:a="http://schemas.openxmlformats.org/drawingml/2006/main">
              <a:ext uri="{FF2B5EF4-FFF2-40B4-BE49-F238E27FC236}">
                <a16:creationId xmlns:a16="http://schemas.microsoft.com/office/drawing/2014/main" id="{5D051387-24AC-4F51-8A11-B53E2880C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7325" y="2701547"/>
            <a:ext cx="185700" cy="2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9525" cmpd="sng">
            <a:solidFill>
              <a:srgbClr val="0E7490"/>
            </a:solidFill>
            <a:prstDash val="solid"/>
          </a:ln>
        </p:spPr>
        <p:txBody>
          <a:bodyPr xmlns:a="http://schemas.openxmlformats.org/drawingml/2006/main" spcFirstLastPara="1" wrap="square" lIns="68575" tIns="68575" rIns="68575" bIns="6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48" name="Google Shape;148;p18">
            <a:extLst xmlns:a="http://schemas.openxmlformats.org/drawingml/2006/main">
              <a:ext uri="{FF2B5EF4-FFF2-40B4-BE49-F238E27FC236}">
                <a16:creationId xmlns:a16="http://schemas.microsoft.com/office/drawing/2014/main" id="{BCA7A8BD-A3D5-4CEC-9BAC-83754E2E5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007275" y="2669400"/>
            <a:ext cx="85800" cy="85800"/>
          </a:xfrm>
          <a:prstGeom xmlns:a="http://schemas.openxmlformats.org/drawingml/2006/main" prst="triangle">
            <a:avLst>
              <a:gd name="adj" fmla="val 50000"/>
            </a:avLst>
          </a:prstGeom>
          <a:solidFill xmlns:a="http://schemas.openxmlformats.org/drawingml/2006/main">
            <a:srgbClr val="0E7490"/>
          </a:solidFill>
          <a:ln xmlns:a="http://schemas.openxmlformats.org/drawingml/2006/main" w="9525" cmpd="sng">
            <a:solidFill>
              <a:srgbClr val="0E7490"/>
            </a:solidFill>
            <a:prstDash val="solid"/>
          </a:ln>
        </p:spPr>
        <p:txBody>
          <a:bodyPr xmlns:a="http://schemas.openxmlformats.org/drawingml/2006/main" spcFirstLastPara="1" wrap="square" lIns="68575" tIns="68575" rIns="68575" bIns="6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49" name="Google Shape;149;p18">
            <a:extLst xmlns:a="http://schemas.openxmlformats.org/drawingml/2006/main">
              <a:ext uri="{FF2B5EF4-FFF2-40B4-BE49-F238E27FC236}">
                <a16:creationId xmlns:a16="http://schemas.microsoft.com/office/drawing/2014/main" id="{0FFC1691-A1B4-40AA-B25A-4A528A69A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06" y="2701547"/>
            <a:ext cx="178500" cy="2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9525" cmpd="sng">
            <a:solidFill>
              <a:srgbClr val="0E7490"/>
            </a:solidFill>
            <a:prstDash val="solid"/>
          </a:ln>
        </p:spPr>
        <p:txBody>
          <a:bodyPr xmlns:a="http://schemas.openxmlformats.org/drawingml/2006/main" spcFirstLastPara="1" wrap="square" lIns="68575" tIns="68575" rIns="68575" bIns="6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50" name="Google Shape;150;p18">
            <a:extLst xmlns:a="http://schemas.openxmlformats.org/drawingml/2006/main">
              <a:ext uri="{FF2B5EF4-FFF2-40B4-BE49-F238E27FC236}">
                <a16:creationId xmlns:a16="http://schemas.microsoft.com/office/drawing/2014/main" id="{BD586DAE-B316-4B46-B400-9883C1A76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907513" y="2669400"/>
            <a:ext cx="85800" cy="85800"/>
          </a:xfrm>
          <a:prstGeom xmlns:a="http://schemas.openxmlformats.org/drawingml/2006/main" prst="triangle">
            <a:avLst>
              <a:gd name="adj" fmla="val 50000"/>
            </a:avLst>
          </a:prstGeom>
          <a:solidFill xmlns:a="http://schemas.openxmlformats.org/drawingml/2006/main">
            <a:srgbClr val="0E7490"/>
          </a:solidFill>
          <a:ln xmlns:a="http://schemas.openxmlformats.org/drawingml/2006/main" w="9525" cmpd="sng">
            <a:solidFill>
              <a:srgbClr val="0E7490"/>
            </a:solidFill>
            <a:prstDash val="solid"/>
          </a:ln>
        </p:spPr>
        <p:txBody>
          <a:bodyPr xmlns:a="http://schemas.openxmlformats.org/drawingml/2006/main" spcFirstLastPara="1" wrap="square" lIns="68575" tIns="68575" rIns="68575" bIns="6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51" name="Google Shape;151;p18">
            <a:extLst xmlns:a="http://schemas.openxmlformats.org/drawingml/2006/main">
              <a:ext uri="{FF2B5EF4-FFF2-40B4-BE49-F238E27FC236}">
                <a16:creationId xmlns:a16="http://schemas.microsoft.com/office/drawing/2014/main" id="{01D2A984-2701-4934-AABD-133FDD811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6363" y="2701547"/>
            <a:ext cx="171600" cy="2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BFF"/>
          </a:solidFill>
          <a:ln xmlns:a="http://schemas.openxmlformats.org/drawingml/2006/main" w="9525" cmpd="sng">
            <a:solidFill>
              <a:srgbClr val="2E5BFF"/>
            </a:solidFill>
            <a:prstDash val="solid"/>
          </a:ln>
        </p:spPr>
        <p:txBody>
          <a:bodyPr xmlns:a="http://schemas.openxmlformats.org/drawingml/2006/main" spcFirstLastPara="1" wrap="square" lIns="68575" tIns="68575" rIns="68575" bIns="6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52" name="Google Shape;152;p18">
            <a:extLst xmlns:a="http://schemas.openxmlformats.org/drawingml/2006/main">
              <a:ext uri="{FF2B5EF4-FFF2-40B4-BE49-F238E27FC236}">
                <a16:creationId xmlns:a16="http://schemas.microsoft.com/office/drawing/2014/main" id="{8390C1AF-7C6C-4233-9F8D-710FF0D72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722025" y="2669400"/>
            <a:ext cx="85800" cy="85800"/>
          </a:xfrm>
          <a:prstGeom xmlns:a="http://schemas.openxmlformats.org/drawingml/2006/main" prst="triangle">
            <a:avLst>
              <a:gd name="adj" fmla="val 50000"/>
            </a:avLst>
          </a:prstGeom>
          <a:solidFill xmlns:a="http://schemas.openxmlformats.org/drawingml/2006/main">
            <a:srgbClr val="2E5BFF"/>
          </a:solidFill>
          <a:ln xmlns:a="http://schemas.openxmlformats.org/drawingml/2006/main" w="9525" cmpd="sng">
            <a:solidFill>
              <a:srgbClr val="2E5BFF"/>
            </a:solidFill>
            <a:prstDash val="solid"/>
          </a:ln>
        </p:spPr>
        <p:txBody>
          <a:bodyPr xmlns:a="http://schemas.openxmlformats.org/drawingml/2006/main" spcFirstLastPara="1" wrap="square" lIns="68575" tIns="68575" rIns="68575" bIns="6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53" name="Google Shape;153;p18">
            <a:extLst xmlns:a="http://schemas.openxmlformats.org/drawingml/2006/main">
              <a:ext uri="{FF2B5EF4-FFF2-40B4-BE49-F238E27FC236}">
                <a16:creationId xmlns:a16="http://schemas.microsoft.com/office/drawing/2014/main" id="{9F1DA1B9-47C7-4627-B44F-98AD9C766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6575" y="2701547"/>
            <a:ext cx="142800" cy="2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BFF"/>
          </a:solidFill>
          <a:ln xmlns:a="http://schemas.openxmlformats.org/drawingml/2006/main" w="9525" cmpd="sng">
            <a:solidFill>
              <a:srgbClr val="2E5BFF"/>
            </a:solidFill>
            <a:prstDash val="solid"/>
          </a:ln>
        </p:spPr>
        <p:txBody>
          <a:bodyPr xmlns:a="http://schemas.openxmlformats.org/drawingml/2006/main" spcFirstLastPara="1" wrap="square" lIns="68575" tIns="68575" rIns="68575" bIns="6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54" name="Google Shape;154;p18">
            <a:extLst xmlns:a="http://schemas.openxmlformats.org/drawingml/2006/main">
              <a:ext uri="{FF2B5EF4-FFF2-40B4-BE49-F238E27FC236}">
                <a16:creationId xmlns:a16="http://schemas.microsoft.com/office/drawing/2014/main" id="{F1410071-4A85-4D9A-9F46-8745C1E34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393663" y="2669400"/>
            <a:ext cx="85800" cy="85800"/>
          </a:xfrm>
          <a:prstGeom xmlns:a="http://schemas.openxmlformats.org/drawingml/2006/main" prst="triangle">
            <a:avLst>
              <a:gd name="adj" fmla="val 50000"/>
            </a:avLst>
          </a:prstGeom>
          <a:solidFill xmlns:a="http://schemas.openxmlformats.org/drawingml/2006/main">
            <a:srgbClr val="2E5BFF"/>
          </a:solidFill>
          <a:ln xmlns:a="http://schemas.openxmlformats.org/drawingml/2006/main" w="9525" cmpd="sng">
            <a:solidFill>
              <a:srgbClr val="2E5BFF"/>
            </a:solidFill>
            <a:prstDash val="solid"/>
          </a:ln>
        </p:spPr>
        <p:txBody>
          <a:bodyPr xmlns:a="http://schemas.openxmlformats.org/drawingml/2006/main" spcFirstLastPara="1" wrap="square" lIns="68575" tIns="68575" rIns="68575" bIns="6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55" name="Google Shape;155;p18">
            <a:extLst xmlns:a="http://schemas.openxmlformats.org/drawingml/2006/main">
              <a:ext uri="{FF2B5EF4-FFF2-40B4-BE49-F238E27FC236}">
                <a16:creationId xmlns:a16="http://schemas.microsoft.com/office/drawing/2014/main" id="{8FBD7E89-EC04-469F-B97B-149A5FFC3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5950" y="2007350"/>
            <a:ext cx="1386000" cy="2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A"/>
          </a:solidFill>
          <a:ln xmlns:a="http://schemas.openxmlformats.org/drawingml/2006/main" w="9525" cmpd="sng">
            <a:solidFill>
              <a:srgbClr val="DDF3EA"/>
            </a:solidFill>
            <a:prstDash val="solid"/>
          </a:ln>
        </p:spPr>
        <p:txBody>
          <a:bodyPr xmlns:a="http://schemas.openxmlformats.org/drawingml/2006/main" spcFirstLastPara="1" wrap="square" lIns="68575" tIns="68575" rIns="68575" bIns="6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56" name="Google Shape;156;p18">
            <a:extLst xmlns:a="http://schemas.openxmlformats.org/drawingml/2006/main">
              <a:ext uri="{FF2B5EF4-FFF2-40B4-BE49-F238E27FC236}">
                <a16:creationId xmlns:a16="http://schemas.microsoft.com/office/drawing/2014/main" id="{D2483B89-2938-4106-94C5-9715FAD78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2552" y="2064500"/>
            <a:ext cx="1312800" cy="1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0E7490"/>
                </a:solidFill>
                <a:latin typeface="Arial"/>
                <a:ea typeface="Arial"/>
                <a:cs typeface="Arial"/>
              </a:rPr>
              <a:t>encrypted proof upload</a:t>
            </a:r>
          </a:p>
        </p:txBody>
      </p:sp>
      <p:sp>
        <p:nvSpPr>
          <p:cNvPr id="157" name="Google Shape;157;p18">
            <a:extLst xmlns:a="http://schemas.openxmlformats.org/drawingml/2006/main">
              <a:ext uri="{FF2B5EF4-FFF2-40B4-BE49-F238E27FC236}">
                <a16:creationId xmlns:a16="http://schemas.microsoft.com/office/drawing/2014/main" id="{8C24E940-9C49-4DF6-9C33-C92D27256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0625" y="2033563"/>
            <a:ext cx="1143000" cy="2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F"/>
          </a:solidFill>
          <a:ln xmlns:a="http://schemas.openxmlformats.org/drawingml/2006/main" w="9525" cmpd="sng">
            <a:solidFill>
              <a:srgbClr val="E8EEFF"/>
            </a:solidFill>
            <a:prstDash val="solid"/>
          </a:ln>
        </p:spPr>
        <p:txBody>
          <a:bodyPr xmlns:a="http://schemas.openxmlformats.org/drawingml/2006/main" spcFirstLastPara="1" wrap="square" lIns="68575" tIns="68575" rIns="68575" bIns="6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58" name="Google Shape;158;p18">
            <a:extLst xmlns:a="http://schemas.openxmlformats.org/drawingml/2006/main">
              <a:ext uri="{FF2B5EF4-FFF2-40B4-BE49-F238E27FC236}">
                <a16:creationId xmlns:a16="http://schemas.microsoft.com/office/drawing/2014/main" id="{997D0760-9B08-42E5-B709-8849E58A9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2063" y="2083569"/>
            <a:ext cx="1000200" cy="1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2E5BFF"/>
                </a:solidFill>
                <a:latin typeface="Arial"/>
                <a:ea typeface="Arial"/>
                <a:cs typeface="Arial"/>
              </a:rPr>
              <a:t>verify full artifact</a:t>
            </a:r>
          </a:p>
        </p:txBody>
      </p:sp>
      <p:sp>
        <p:nvSpPr>
          <p:cNvPr id="159" name="Google Shape;159;p18">
            <a:extLst xmlns:a="http://schemas.openxmlformats.org/drawingml/2006/main">
              <a:ext uri="{FF2B5EF4-FFF2-40B4-BE49-F238E27FC236}">
                <a16:creationId xmlns:a16="http://schemas.microsoft.com/office/drawing/2014/main" id="{BA5FAB6F-9F5D-4B7A-B3B7-87962BAE7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425" y="3447975"/>
            <a:ext cx="1500300" cy="2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2"/>
          </a:solidFill>
          <a:ln xmlns:a="http://schemas.openxmlformats.org/drawingml/2006/main" w="9525" cmpd="sng">
            <a:solidFill>
              <a:srgbClr val="FFF2D2"/>
            </a:solidFill>
            <a:prstDash val="solid"/>
          </a:ln>
        </p:spPr>
        <p:txBody>
          <a:bodyPr xmlns:a="http://schemas.openxmlformats.org/drawingml/2006/main" spcFirstLastPara="1" wrap="square" lIns="68575" tIns="68575" rIns="68575" bIns="6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60" name="Google Shape;160;p18">
            <a:extLst xmlns:a="http://schemas.openxmlformats.org/drawingml/2006/main">
              <a:ext uri="{FF2B5EF4-FFF2-40B4-BE49-F238E27FC236}">
                <a16:creationId xmlns:a16="http://schemas.microsoft.com/office/drawing/2014/main" id="{A4236FB1-BCD2-481B-A43F-A0DDDFEDC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0194" y="3497990"/>
            <a:ext cx="1312800" cy="1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8A5B00"/>
                </a:solidFill>
                <a:latin typeface="Arial"/>
                <a:ea typeface="Arial"/>
                <a:cs typeface="Arial"/>
              </a:rPr>
              <a:t>scoped claims only</a:t>
            </a:r>
          </a:p>
        </p:txBody>
      </p:sp>
      <p:sp>
        <p:nvSpPr>
          <p:cNvPr id="161" name="Google Shape;161;p18">
            <a:extLst xmlns:a="http://schemas.openxmlformats.org/drawingml/2006/main">
              <a:ext uri="{FF2B5EF4-FFF2-40B4-BE49-F238E27FC236}">
                <a16:creationId xmlns:a16="http://schemas.microsoft.com/office/drawing/2014/main" id="{1D8DAF38-9205-4A13-9F7D-24369C5CE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500" y="3698100"/>
            <a:ext cx="2200200" cy="6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CFE0DE"/>
            </a:solidFill>
            <a:prstDash val="solid"/>
          </a:ln>
        </p:spPr>
        <p:txBody>
          <a:bodyPr xmlns:a="http://schemas.openxmlformats.org/drawingml/2006/main" spcFirstLastPara="1" wrap="square" lIns="68575" tIns="68575" rIns="68575" bIns="6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62" name="Google Shape;162;p18">
            <a:extLst xmlns:a="http://schemas.openxmlformats.org/drawingml/2006/main">
              <a:ext uri="{FF2B5EF4-FFF2-40B4-BE49-F238E27FC236}">
                <a16:creationId xmlns:a16="http://schemas.microsoft.com/office/drawing/2014/main" id="{96A816E1-0CB7-4204-8D25-3C23E1C36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950" y="3826700"/>
            <a:ext cx="1035600" cy="1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0E7490"/>
                </a:solidFill>
                <a:latin typeface="Arial"/>
                <a:ea typeface="Arial"/>
                <a:cs typeface="Arial"/>
              </a:rPr>
              <a:t>Owner controls</a:t>
            </a:r>
          </a:p>
        </p:txBody>
      </p:sp>
      <p:sp>
        <p:nvSpPr>
          <p:cNvPr id="163" name="Google Shape;163;p18">
            <a:extLst xmlns:a="http://schemas.openxmlformats.org/drawingml/2006/main">
              <a:ext uri="{FF2B5EF4-FFF2-40B4-BE49-F238E27FC236}">
                <a16:creationId xmlns:a16="http://schemas.microsoft.com/office/drawing/2014/main" id="{F85FE657-CA83-421C-8ED5-5112C277B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938" y="4012425"/>
            <a:ext cx="1728900" cy="18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5D7478"/>
                </a:solidFill>
                <a:latin typeface="Arial"/>
                <a:ea typeface="Arial"/>
                <a:cs typeface="Arial"/>
              </a:rPr>
              <a:t>selection grammar, expiry, max views, one-time links, revoke</a:t>
            </a:r>
          </a:p>
        </p:txBody>
      </p:sp>
      <p:sp>
        <p:nvSpPr>
          <p:cNvPr id="164" name="Google Shape;164;p18">
            <a:extLst xmlns:a="http://schemas.openxmlformats.org/drawingml/2006/main">
              <a:ext uri="{FF2B5EF4-FFF2-40B4-BE49-F238E27FC236}">
                <a16:creationId xmlns:a16="http://schemas.microsoft.com/office/drawing/2014/main" id="{721AE09F-BA70-418B-8158-2019BD590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6113" y="3698100"/>
            <a:ext cx="2200200" cy="6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CFE0DE"/>
            </a:solidFill>
            <a:prstDash val="solid"/>
          </a:ln>
        </p:spPr>
        <p:txBody>
          <a:bodyPr xmlns:a="http://schemas.openxmlformats.org/drawingml/2006/main" spcFirstLastPara="1" wrap="square" lIns="68575" tIns="68575" rIns="68575" bIns="6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65" name="Google Shape;165;p18">
            <a:extLst xmlns:a="http://schemas.openxmlformats.org/drawingml/2006/main">
              <a:ext uri="{FF2B5EF4-FFF2-40B4-BE49-F238E27FC236}">
                <a16:creationId xmlns:a16="http://schemas.microsoft.com/office/drawing/2014/main" id="{38E8653A-BB38-43B4-A41D-CBAC68794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1990" y="3826700"/>
            <a:ext cx="1067100" cy="1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2E5BFF"/>
                </a:solidFill>
                <a:latin typeface="Arial"/>
                <a:ea typeface="Arial"/>
                <a:cs typeface="Arial"/>
              </a:rPr>
              <a:t>Service enforces</a:t>
            </a:r>
          </a:p>
        </p:txBody>
      </p:sp>
      <p:sp>
        <p:nvSpPr>
          <p:cNvPr id="166" name="Google Shape;166;p18">
            <a:extLst xmlns:a="http://schemas.openxmlformats.org/drawingml/2006/main">
              <a:ext uri="{FF2B5EF4-FFF2-40B4-BE49-F238E27FC236}">
                <a16:creationId xmlns:a16="http://schemas.microsoft.com/office/drawing/2014/main" id="{7A689571-1F61-4A4D-8F26-DEEA33DF6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7550" y="4012425"/>
            <a:ext cx="1800300" cy="18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5D7478"/>
                </a:solidFill>
                <a:latin typeface="Arial"/>
                <a:ea typeface="Arial"/>
                <a:cs typeface="Arial"/>
              </a:rPr>
              <a:t>decrypt after token gates, verify, project claims, sign receipt</a:t>
            </a:r>
          </a:p>
        </p:txBody>
      </p:sp>
      <p:sp>
        <p:nvSpPr>
          <p:cNvPr id="167" name="Google Shape;167;p18">
            <a:extLst xmlns:a="http://schemas.openxmlformats.org/drawingml/2006/main">
              <a:ext uri="{FF2B5EF4-FFF2-40B4-BE49-F238E27FC236}">
                <a16:creationId xmlns:a16="http://schemas.microsoft.com/office/drawing/2014/main" id="{1942497D-9F13-4E20-A90F-7E6E8BD0B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725" y="3698100"/>
            <a:ext cx="2200200" cy="6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CFE0DE"/>
            </a:solidFill>
            <a:prstDash val="solid"/>
          </a:ln>
        </p:spPr>
        <p:txBody>
          <a:bodyPr xmlns:a="http://schemas.openxmlformats.org/drawingml/2006/main" spcFirstLastPara="1" wrap="square" lIns="68575" tIns="68575" rIns="68575" bIns="6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68" name="Google Shape;168;p18">
            <a:extLst xmlns:a="http://schemas.openxmlformats.org/drawingml/2006/main">
              <a:ext uri="{FF2B5EF4-FFF2-40B4-BE49-F238E27FC236}">
                <a16:creationId xmlns:a16="http://schemas.microsoft.com/office/drawing/2014/main" id="{EB8BEDA4-EF80-44CF-904F-65DA839A0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2181" y="3826700"/>
            <a:ext cx="1003200" cy="1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0D7943"/>
                </a:solidFill>
                <a:latin typeface="Arial"/>
                <a:ea typeface="Arial"/>
                <a:cs typeface="Arial"/>
              </a:rPr>
              <a:t>Recipient sees</a:t>
            </a:r>
          </a:p>
        </p:txBody>
      </p:sp>
      <p:sp>
        <p:nvSpPr>
          <p:cNvPr id="169" name="Google Shape;169;p18">
            <a:extLst xmlns:a="http://schemas.openxmlformats.org/drawingml/2006/main">
              <a:ext uri="{FF2B5EF4-FFF2-40B4-BE49-F238E27FC236}">
                <a16:creationId xmlns:a16="http://schemas.microsoft.com/office/drawing/2014/main" id="{655D9911-2BED-4C8D-BA2B-DCB5DED1E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2163" y="4012425"/>
            <a:ext cx="1800300" cy="18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5D7478"/>
                </a:solidFill>
                <a:latin typeface="Arial"/>
                <a:ea typeface="Arial"/>
                <a:cs typeface="Arial"/>
              </a:rPr>
              <a:t>valid / expired / revoked status, released fields, conditions, receipt</a:t>
            </a:r>
          </a:p>
        </p:txBody>
      </p:sp>
      <p:sp>
        <p:nvSpPr>
          <p:cNvPr id="170" name="Google Shape;170;p18">
            <a:extLst xmlns:a="http://schemas.openxmlformats.org/drawingml/2006/main">
              <a:ext uri="{FF2B5EF4-FFF2-40B4-BE49-F238E27FC236}">
                <a16:creationId xmlns:a16="http://schemas.microsoft.com/office/drawing/2014/main" id="{008EDDB0-FE5B-48A2-B24C-419B97D5C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72038"/>
            <a:ext cx="5429250" cy="1285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600" b="0">
                <a:solidFill>
                  <a:srgbClr val="789094"/>
                </a:solidFill>
                <a:latin typeface="Arial"/>
                <a:ea typeface="Arial"/>
                <a:cs typeface="Arial"/>
              </a:rPr>
              <a:t>Architecture: README.md and docs/architecture.md</a:t>
            </a:r>
          </a:p>
        </p:txBody>
      </p:sp>
      <p:sp>
        <p:nvSpPr>
          <p:cNvPr id="171" name="Google Shape;171;p18">
            <a:extLst xmlns:a="http://schemas.openxmlformats.org/drawingml/2006/main">
              <a:ext uri="{FF2B5EF4-FFF2-40B4-BE49-F238E27FC236}">
                <a16:creationId xmlns:a16="http://schemas.microsoft.com/office/drawing/2014/main" id="{569DD004-14B7-4F0F-92B7-E7843AF07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3906" y="4843463"/>
            <a:ext cx="28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700" b="1">
                <a:solidFill>
                  <a:srgbClr val="78909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2" name="Google Shape;172;p18">
            <a:extLst xmlns:a="http://schemas.openxmlformats.org/drawingml/2006/main">
              <a:ext uri="{FF2B5EF4-FFF2-40B4-BE49-F238E27FC236}">
                <a16:creationId xmlns:a16="http://schemas.microsoft.com/office/drawing/2014/main" id="{FEFC2678-621C-4EAB-9D25-2159EAF91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0538" y="2007350"/>
            <a:ext cx="1143000" cy="2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2"/>
          </a:solidFill>
          <a:ln xmlns:a="http://schemas.openxmlformats.org/drawingml/2006/main" w="9525" cmpd="sng">
            <a:solidFill>
              <a:srgbClr val="FFF2D2"/>
            </a:solidFill>
            <a:prstDash val="solid"/>
          </a:ln>
        </p:spPr>
        <p:txBody>
          <a:bodyPr xmlns:a="http://schemas.openxmlformats.org/drawingml/2006/main" spcFirstLastPara="1" wrap="square" lIns="68575" tIns="68575" rIns="68575" bIns="6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73" name="Google Shape;173;p18">
            <a:extLst xmlns:a="http://schemas.openxmlformats.org/drawingml/2006/main">
              <a:ext uri="{FF2B5EF4-FFF2-40B4-BE49-F238E27FC236}">
                <a16:creationId xmlns:a16="http://schemas.microsoft.com/office/drawing/2014/main" id="{C8E3FDC2-E96D-4636-A254-B7CC6C6D6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75" y="2057365"/>
            <a:ext cx="1000200" cy="1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8A5B00"/>
                </a:solidFill>
              </a:rPr>
              <a:t>TEE Compatible</a:t>
            </a:r>
          </a:p>
        </p:txBody>
      </p:sp>
    </p:spTree>
    <p:extLst>
      <p:ext uri="{BB962C8B-B14F-4D97-AF65-F5344CB8AC3E}">
        <p14:creationId xmlns:p14="http://schemas.microsoft.com/office/powerpoint/2010/main" val="213942801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9" name="Google Shape;179;p19">
            <a:extLst xmlns:a="http://schemas.openxmlformats.org/drawingml/2006/main">
              <a:ext uri="{FF2B5EF4-FFF2-40B4-BE49-F238E27FC236}">
                <a16:creationId xmlns:a16="http://schemas.microsoft.com/office/drawing/2014/main" id="{59A17363-2105-43B3-835B-7658930FA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2"/>
          </a:solidFill>
          <a:ln xmlns:a="http://schemas.openxmlformats.org/drawingml/2006/main" w="9525" cmpd="sng">
            <a:solidFill>
              <a:srgbClr val="F7F7F2"/>
            </a:solidFill>
            <a:prstDash val="solid"/>
          </a:ln>
        </p:spPr>
        <p:txBody>
          <a:bodyPr xmlns:a="http://schemas.openxmlformats.org/drawingml/2006/main" spcFirstLastPara="1" wrap="square" lIns="68575" tIns="68575" rIns="68575" bIns="6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80" name="Google Shape;180;p19">
            <a:extLst xmlns:a="http://schemas.openxmlformats.org/drawingml/2006/main">
              <a:ext uri="{FF2B5EF4-FFF2-40B4-BE49-F238E27FC236}">
                <a16:creationId xmlns:a16="http://schemas.microsoft.com/office/drawing/2014/main" id="{5CB43213-9B04-4809-82A4-7896F7425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1481"/>
            <a:ext cx="50006" cy="5000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9525" cmpd="sng">
            <a:solidFill>
              <a:srgbClr val="0E7490"/>
            </a:solidFill>
            <a:prstDash val="solid"/>
          </a:ln>
        </p:spPr>
        <p:txBody>
          <a:bodyPr xmlns:a="http://schemas.openxmlformats.org/drawingml/2006/main" spcFirstLastPara="1" wrap="square" lIns="68575" tIns="68575" rIns="68575" bIns="6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81" name="Google Shape;181;p19">
            <a:extLst xmlns:a="http://schemas.openxmlformats.org/drawingml/2006/main">
              <a:ext uri="{FF2B5EF4-FFF2-40B4-BE49-F238E27FC236}">
                <a16:creationId xmlns:a16="http://schemas.microsoft.com/office/drawing/2014/main" id="{DBE81DB1-D827-4AB6-A2C1-6A51D66C0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1475"/>
            <a:ext cx="3714750" cy="157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700" b="1">
                <a:solidFill>
                  <a:srgbClr val="0E7490"/>
                </a:solidFill>
                <a:latin typeface="Arial"/>
                <a:ea typeface="Arial"/>
                <a:cs typeface="Arial"/>
              </a:rPr>
              <a:t>SECURE BY DESIGN</a:t>
            </a:r>
          </a:p>
        </p:txBody>
      </p:sp>
      <p:sp>
        <p:nvSpPr>
          <p:cNvPr id="182" name="Google Shape;182;p19">
            <a:extLst xmlns:a="http://schemas.openxmlformats.org/drawingml/2006/main">
              <a:ext uri="{FF2B5EF4-FFF2-40B4-BE49-F238E27FC236}">
                <a16:creationId xmlns:a16="http://schemas.microsoft.com/office/drawing/2014/main" id="{C1B44A11-74E1-4D20-838D-FB896A250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5500688" cy="5000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02A2D"/>
                </a:solidFill>
                <a:latin typeface="Play"/>
                <a:ea typeface="Play"/>
                <a:cs typeface="Play"/>
              </a:rPr>
              <a:t>Security is layered, and the risky boundaries are explicit.</a:t>
            </a:r>
          </a:p>
        </p:txBody>
      </p:sp>
      <p:sp>
        <p:nvSpPr>
          <p:cNvPr id="183" name="Google Shape;183;p19">
            <a:extLst xmlns:a="http://schemas.openxmlformats.org/drawingml/2006/main">
              <a:ext uri="{FF2B5EF4-FFF2-40B4-BE49-F238E27FC236}">
                <a16:creationId xmlns:a16="http://schemas.microsoft.com/office/drawing/2014/main" id="{DE7C7CC8-4953-4061-A8A4-4F2AC3C10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51" y="1457325"/>
            <a:ext cx="5895300" cy="38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0775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43" b="0">
                <a:solidFill>
                  <a:srgbClr val="5D7478"/>
                </a:solidFill>
                <a:latin typeface="Arial"/>
                <a:ea typeface="Arial"/>
                <a:cs typeface="Arial"/>
              </a:rPr>
              <a:t>This is a reference implementation with real cryptographic controls</a:t>
            </a:r>
          </a:p>
        </p:txBody>
      </p:sp>
      <p:sp>
        <p:nvSpPr>
          <p:cNvPr id="184" name="Google Shape;184;p19">
            <a:extLst xmlns:a="http://schemas.openxmlformats.org/drawingml/2006/main">
              <a:ext uri="{FF2B5EF4-FFF2-40B4-BE49-F238E27FC236}">
                <a16:creationId xmlns:a16="http://schemas.microsoft.com/office/drawing/2014/main" id="{8E26A143-C4C7-4852-BA26-8CB694722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44955"/>
            <a:ext cx="5459100" cy="269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775" cmpd="sng">
            <a:solidFill>
              <a:srgbClr val="CFE0DE"/>
            </a:solidFill>
            <a:prstDash val="solid"/>
          </a:ln>
        </p:spPr>
        <p:txBody>
          <a:bodyPr xmlns:a="http://schemas.openxmlformats.org/drawingml/2006/main" spcFirstLastPara="1" wrap="square" lIns="77525" tIns="77525" rIns="77525" bIns="775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85" name="Google Shape;185;p19">
            <a:extLst xmlns:a="http://schemas.openxmlformats.org/drawingml/2006/main">
              <a:ext uri="{FF2B5EF4-FFF2-40B4-BE49-F238E27FC236}">
                <a16:creationId xmlns:a16="http://schemas.microsoft.com/office/drawing/2014/main" id="{264A78EF-1017-4BB4-82B4-C33BD0689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468" y="2054921"/>
            <a:ext cx="904500" cy="16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0775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4" b="1">
                <a:solidFill>
                  <a:srgbClr val="5D7478"/>
                </a:solidFill>
                <a:latin typeface="Arial"/>
                <a:ea typeface="Arial"/>
                <a:cs typeface="Arial"/>
              </a:rPr>
              <a:t>Control</a:t>
            </a:r>
          </a:p>
        </p:txBody>
      </p:sp>
      <p:sp>
        <p:nvSpPr>
          <p:cNvPr id="186" name="Google Shape;186;p19">
            <a:extLst xmlns:a="http://schemas.openxmlformats.org/drawingml/2006/main">
              <a:ext uri="{FF2B5EF4-FFF2-40B4-BE49-F238E27FC236}">
                <a16:creationId xmlns:a16="http://schemas.microsoft.com/office/drawing/2014/main" id="{A1C96B76-E615-49B2-B15D-71DB293C0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0736" y="2054921"/>
            <a:ext cx="1453500" cy="16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0775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4" b="1">
                <a:solidFill>
                  <a:srgbClr val="5D7478"/>
                </a:solidFill>
                <a:latin typeface="Arial"/>
                <a:ea typeface="Arial"/>
                <a:cs typeface="Arial"/>
              </a:rPr>
              <a:t>Why it matters</a:t>
            </a:r>
          </a:p>
        </p:txBody>
      </p:sp>
      <p:sp>
        <p:nvSpPr>
          <p:cNvPr id="187" name="Google Shape;187;p19">
            <a:extLst xmlns:a="http://schemas.openxmlformats.org/drawingml/2006/main">
              <a:ext uri="{FF2B5EF4-FFF2-40B4-BE49-F238E27FC236}">
                <a16:creationId xmlns:a16="http://schemas.microsoft.com/office/drawing/2014/main" id="{50A79334-CBC3-4DE1-B9E1-AAD8BC87A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468" y="2329492"/>
            <a:ext cx="4812900" cy="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0DE"/>
          </a:solidFill>
          <a:ln xmlns:a="http://schemas.openxmlformats.org/drawingml/2006/main" w="10775" cmpd="sng">
            <a:solidFill>
              <a:srgbClr val="CFE0DE"/>
            </a:solidFill>
            <a:prstDash val="solid"/>
          </a:ln>
        </p:spPr>
        <p:txBody>
          <a:bodyPr xmlns:a="http://schemas.openxmlformats.org/drawingml/2006/main" spcFirstLastPara="1" wrap="square" lIns="77525" tIns="77525" rIns="77525" bIns="775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88" name="Google Shape;188;p19">
            <a:extLst xmlns:a="http://schemas.openxmlformats.org/drawingml/2006/main">
              <a:ext uri="{FF2B5EF4-FFF2-40B4-BE49-F238E27FC236}">
                <a16:creationId xmlns:a16="http://schemas.microsoft.com/office/drawing/2014/main" id="{4E315892-F0A5-4E53-B2BC-927346663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468" y="2442551"/>
            <a:ext cx="1356600" cy="19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0775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43" b="1">
                <a:solidFill>
                  <a:srgbClr val="102A2D"/>
                </a:solidFill>
                <a:latin typeface="Arial"/>
                <a:ea typeface="Arial"/>
                <a:cs typeface="Arial"/>
              </a:rPr>
              <a:t>Local custody</a:t>
            </a:r>
          </a:p>
        </p:txBody>
      </p:sp>
      <p:sp>
        <p:nvSpPr>
          <p:cNvPr id="189" name="Google Shape;189;p19">
            <a:extLst xmlns:a="http://schemas.openxmlformats.org/drawingml/2006/main">
              <a:ext uri="{FF2B5EF4-FFF2-40B4-BE49-F238E27FC236}">
                <a16:creationId xmlns:a16="http://schemas.microsoft.com/office/drawing/2014/main" id="{F39406F8-711B-430F-B469-34CAAB699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0736" y="2442551"/>
            <a:ext cx="3020400" cy="22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0775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4" b="0">
                <a:solidFill>
                  <a:srgbClr val="5D7478"/>
                </a:solidFill>
                <a:latin typeface="Arial"/>
                <a:ea typeface="Arial"/>
                <a:cs typeface="Arial"/>
              </a:rPr>
              <a:t>Proofs live on device first; upload is per-share opt-in.</a:t>
            </a:r>
          </a:p>
        </p:txBody>
      </p:sp>
      <p:sp>
        <p:nvSpPr>
          <p:cNvPr id="190" name="Google Shape;190;p19">
            <a:extLst xmlns:a="http://schemas.openxmlformats.org/drawingml/2006/main">
              <a:ext uri="{FF2B5EF4-FFF2-40B4-BE49-F238E27FC236}">
                <a16:creationId xmlns:a16="http://schemas.microsoft.com/office/drawing/2014/main" id="{8F45AD40-F196-41E6-A0EB-3627810B1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468" y="2749424"/>
            <a:ext cx="4812900" cy="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2"/>
          </a:solidFill>
          <a:ln xmlns:a="http://schemas.openxmlformats.org/drawingml/2006/main" w="10775" cmpd="sng">
            <a:solidFill>
              <a:srgbClr val="EEF3F2"/>
            </a:solidFill>
            <a:prstDash val="solid"/>
          </a:ln>
        </p:spPr>
        <p:txBody>
          <a:bodyPr xmlns:a="http://schemas.openxmlformats.org/drawingml/2006/main" spcFirstLastPara="1" wrap="square" lIns="77525" tIns="77525" rIns="77525" bIns="775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91" name="Google Shape;191;p19">
            <a:extLst xmlns:a="http://schemas.openxmlformats.org/drawingml/2006/main">
              <a:ext uri="{FF2B5EF4-FFF2-40B4-BE49-F238E27FC236}">
                <a16:creationId xmlns:a16="http://schemas.microsoft.com/office/drawing/2014/main" id="{1332B04C-DBCA-4E53-8196-947FE1007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468" y="2838256"/>
            <a:ext cx="1356600" cy="19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0775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43" b="1">
                <a:solidFill>
                  <a:srgbClr val="102A2D"/>
                </a:solidFill>
                <a:latin typeface="Arial"/>
                <a:ea typeface="Arial"/>
                <a:cs typeface="Arial"/>
              </a:rPr>
              <a:t>AES-GCM at rest</a:t>
            </a:r>
          </a:p>
        </p:txBody>
      </p:sp>
      <p:sp>
        <p:nvSpPr>
          <p:cNvPr id="192" name="Google Shape;192;p19">
            <a:extLst xmlns:a="http://schemas.openxmlformats.org/drawingml/2006/main">
              <a:ext uri="{FF2B5EF4-FFF2-40B4-BE49-F238E27FC236}">
                <a16:creationId xmlns:a16="http://schemas.microsoft.com/office/drawing/2014/main" id="{CDD1F18C-B367-4217-AEE4-EDA51AFE5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0725" y="2838250"/>
            <a:ext cx="3181500" cy="22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0775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4" b="0">
                <a:solidFill>
                  <a:srgbClr val="5D7478"/>
                </a:solidFill>
                <a:latin typeface="Arial"/>
                <a:ea typeface="Arial"/>
                <a:cs typeface="Arial"/>
              </a:rPr>
              <a:t>Mobile vault and backend blobs use authenticated encryption.</a:t>
            </a:r>
          </a:p>
        </p:txBody>
      </p:sp>
      <p:sp>
        <p:nvSpPr>
          <p:cNvPr id="193" name="Google Shape;193;p19">
            <a:extLst xmlns:a="http://schemas.openxmlformats.org/drawingml/2006/main">
              <a:ext uri="{FF2B5EF4-FFF2-40B4-BE49-F238E27FC236}">
                <a16:creationId xmlns:a16="http://schemas.microsoft.com/office/drawing/2014/main" id="{BB46C454-8F7D-41A2-AC02-ED4165B17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468" y="3145130"/>
            <a:ext cx="4812900" cy="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2"/>
          </a:solidFill>
          <a:ln xmlns:a="http://schemas.openxmlformats.org/drawingml/2006/main" w="10775" cmpd="sng">
            <a:solidFill>
              <a:srgbClr val="EEF3F2"/>
            </a:solidFill>
            <a:prstDash val="solid"/>
          </a:ln>
        </p:spPr>
        <p:txBody>
          <a:bodyPr xmlns:a="http://schemas.openxmlformats.org/drawingml/2006/main" spcFirstLastPara="1" wrap="square" lIns="77525" tIns="77525" rIns="77525" bIns="775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94" name="Google Shape;194;p19">
            <a:extLst xmlns:a="http://schemas.openxmlformats.org/drawingml/2006/main">
              <a:ext uri="{FF2B5EF4-FFF2-40B4-BE49-F238E27FC236}">
                <a16:creationId xmlns:a16="http://schemas.microsoft.com/office/drawing/2014/main" id="{12C94514-CAFF-4DDA-AE14-BFE6AA07F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468" y="3233962"/>
            <a:ext cx="1356600" cy="19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0775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43" b="1">
                <a:solidFill>
                  <a:srgbClr val="2E5BFF"/>
                </a:solidFill>
                <a:latin typeface="Arial"/>
                <a:ea typeface="Arial"/>
                <a:cs typeface="Arial"/>
              </a:rPr>
              <a:t>Share gates</a:t>
            </a:r>
          </a:p>
        </p:txBody>
      </p:sp>
      <p:sp>
        <p:nvSpPr>
          <p:cNvPr id="195" name="Google Shape;195;p19">
            <a:extLst xmlns:a="http://schemas.openxmlformats.org/drawingml/2006/main">
              <a:ext uri="{FF2B5EF4-FFF2-40B4-BE49-F238E27FC236}">
                <a16:creationId xmlns:a16="http://schemas.microsoft.com/office/drawing/2014/main" id="{9C75BD7F-2861-46BD-AA38-9A80226E9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0724" y="3233950"/>
            <a:ext cx="3181500" cy="22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0775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4" b="0">
                <a:solidFill>
                  <a:srgbClr val="5D7478"/>
                </a:solidFill>
                <a:latin typeface="Arial"/>
                <a:ea typeface="Arial"/>
                <a:cs typeface="Arial"/>
              </a:rPr>
              <a:t>Opaque tokens support expiry, max views, one-time use</a:t>
            </a:r>
          </a:p>
        </p:txBody>
      </p:sp>
      <p:sp>
        <p:nvSpPr>
          <p:cNvPr id="196" name="Google Shape;196;p19">
            <a:extLst xmlns:a="http://schemas.openxmlformats.org/drawingml/2006/main">
              <a:ext uri="{FF2B5EF4-FFF2-40B4-BE49-F238E27FC236}">
                <a16:creationId xmlns:a16="http://schemas.microsoft.com/office/drawing/2014/main" id="{09E74BEA-3157-4CE4-9B43-2C91A272A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468" y="3540835"/>
            <a:ext cx="4812900" cy="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2"/>
          </a:solidFill>
          <a:ln xmlns:a="http://schemas.openxmlformats.org/drawingml/2006/main" w="10775" cmpd="sng">
            <a:solidFill>
              <a:srgbClr val="EEF3F2"/>
            </a:solidFill>
            <a:prstDash val="solid"/>
          </a:ln>
        </p:spPr>
        <p:txBody>
          <a:bodyPr xmlns:a="http://schemas.openxmlformats.org/drawingml/2006/main" spcFirstLastPara="1" wrap="square" lIns="77525" tIns="77525" rIns="77525" bIns="775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97" name="Google Shape;197;p19">
            <a:extLst xmlns:a="http://schemas.openxmlformats.org/drawingml/2006/main">
              <a:ext uri="{FF2B5EF4-FFF2-40B4-BE49-F238E27FC236}">
                <a16:creationId xmlns:a16="http://schemas.microsoft.com/office/drawing/2014/main" id="{AA0FF32A-761B-471A-AA95-70F45343C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475" y="3629675"/>
            <a:ext cx="1453500" cy="22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0775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43" b="1">
                <a:solidFill>
                  <a:srgbClr val="102A2D"/>
                </a:solidFill>
                <a:latin typeface="Arial"/>
                <a:ea typeface="Arial"/>
                <a:cs typeface="Arial"/>
              </a:rPr>
              <a:t>Server verification</a:t>
            </a:r>
          </a:p>
        </p:txBody>
      </p:sp>
      <p:sp>
        <p:nvSpPr>
          <p:cNvPr id="198" name="Google Shape;198;p19">
            <a:extLst xmlns:a="http://schemas.openxmlformats.org/drawingml/2006/main">
              <a:ext uri="{FF2B5EF4-FFF2-40B4-BE49-F238E27FC236}">
                <a16:creationId xmlns:a16="http://schemas.microsoft.com/office/drawing/2014/main" id="{8677B253-1BE9-4454-B22D-575315190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0736" y="3629667"/>
            <a:ext cx="3020400" cy="22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0775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4">
                <a:solidFill>
                  <a:srgbClr val="5D7478"/>
                </a:solidFill>
              </a:rPr>
              <a:t>Proof</a:t>
            </a:r>
            <a:r>
              <a:rPr sz="904" b="0">
                <a:solidFill>
                  <a:srgbClr val="5D7478"/>
                </a:solidFill>
                <a:latin typeface="Arial"/>
                <a:ea typeface="Arial"/>
                <a:cs typeface="Arial"/>
              </a:rPr>
              <a:t> verifier checks the artifact before claims render.</a:t>
            </a:r>
          </a:p>
        </p:txBody>
      </p:sp>
      <p:sp>
        <p:nvSpPr>
          <p:cNvPr id="199" name="Google Shape;199;p19">
            <a:extLst xmlns:a="http://schemas.openxmlformats.org/drawingml/2006/main">
              <a:ext uri="{FF2B5EF4-FFF2-40B4-BE49-F238E27FC236}">
                <a16:creationId xmlns:a16="http://schemas.microsoft.com/office/drawing/2014/main" id="{1A722742-F70F-46FA-9DBF-785D8506A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468" y="3936541"/>
            <a:ext cx="4812900" cy="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2"/>
          </a:solidFill>
          <a:ln xmlns:a="http://schemas.openxmlformats.org/drawingml/2006/main" w="10775" cmpd="sng">
            <a:solidFill>
              <a:srgbClr val="EEF3F2"/>
            </a:solidFill>
            <a:prstDash val="solid"/>
          </a:ln>
        </p:spPr>
        <p:txBody>
          <a:bodyPr xmlns:a="http://schemas.openxmlformats.org/drawingml/2006/main" spcFirstLastPara="1" wrap="square" lIns="77525" tIns="77525" rIns="77525" bIns="775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00" name="Google Shape;200;p19">
            <a:extLst xmlns:a="http://schemas.openxmlformats.org/drawingml/2006/main">
              <a:ext uri="{FF2B5EF4-FFF2-40B4-BE49-F238E27FC236}">
                <a16:creationId xmlns:a16="http://schemas.microsoft.com/office/drawing/2014/main" id="{4088CA24-5244-4955-AE0B-7441417F8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468" y="4025373"/>
            <a:ext cx="1356600" cy="19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0775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43" b="1">
                <a:solidFill>
                  <a:srgbClr val="102A2D"/>
                </a:solidFill>
                <a:latin typeface="Arial"/>
                <a:ea typeface="Arial"/>
                <a:cs typeface="Arial"/>
              </a:rPr>
              <a:t>Signed receipt</a:t>
            </a:r>
          </a:p>
        </p:txBody>
      </p:sp>
      <p:sp>
        <p:nvSpPr>
          <p:cNvPr id="201" name="Google Shape;201;p19">
            <a:extLst xmlns:a="http://schemas.openxmlformats.org/drawingml/2006/main">
              <a:ext uri="{FF2B5EF4-FFF2-40B4-BE49-F238E27FC236}">
                <a16:creationId xmlns:a16="http://schemas.microsoft.com/office/drawing/2014/main" id="{BE4D9A3F-2F2C-44BB-B1F5-3AB61FD60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0736" y="4025373"/>
            <a:ext cx="3020400" cy="22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0775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4" b="0">
                <a:solidFill>
                  <a:srgbClr val="5D7478"/>
                </a:solidFill>
                <a:latin typeface="Arial"/>
                <a:ea typeface="Arial"/>
                <a:cs typeface="Arial"/>
              </a:rPr>
              <a:t>HMAC receipt + audit JSONL make verification replayable</a:t>
            </a:r>
          </a:p>
        </p:txBody>
      </p:sp>
      <p:sp>
        <p:nvSpPr>
          <p:cNvPr id="202" name="Google Shape;202;p19">
            <a:extLst xmlns:a="http://schemas.openxmlformats.org/drawingml/2006/main">
              <a:ext uri="{FF2B5EF4-FFF2-40B4-BE49-F238E27FC236}">
                <a16:creationId xmlns:a16="http://schemas.microsoft.com/office/drawing/2014/main" id="{52C5A493-9065-4AEE-AD12-E589E6C61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3906" y="4843463"/>
            <a:ext cx="28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700" b="1">
                <a:solidFill>
                  <a:srgbClr val="789094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2553289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final-background">
            <a:extLst xmlns:a="http://schemas.openxmlformats.org/drawingml/2006/main">
              <a:ext uri="{FF2B5EF4-FFF2-40B4-BE49-F238E27FC236}">
                <a16:creationId xmlns:a16="http://schemas.microsoft.com/office/drawing/2014/main" id="{A3B86FA9-91D1-47FA-945A-0F3A1A4CB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2"/>
          </a:solidFill>
          <a:ln xmlns:a="http://schemas.openxmlformats.org/drawingml/2006/main" w="9525">
            <a:solidFill>
              <a:srgbClr val="F7F7F2"/>
            </a:solidFill>
            <a:prstDash val="solid"/>
          </a:ln>
        </p:spPr>
      </p:sp>
      <p:sp>
        <p:nvSpPr>
          <p:cNvPr id="2" name="kicker-dot">
            <a:extLst xmlns:a="http://schemas.openxmlformats.org/drawingml/2006/main">
              <a:ext uri="{FF2B5EF4-FFF2-40B4-BE49-F238E27FC236}">
                <a16:creationId xmlns:a16="http://schemas.microsoft.com/office/drawing/2014/main" id="{715AC961-5F65-4443-AE4A-9EA145D23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1481"/>
            <a:ext cx="50006" cy="500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9525">
            <a:solidFill>
              <a:srgbClr val="0E7490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808CF53-4105-4803-9672-5BA30FDD4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1475"/>
            <a:ext cx="3714750" cy="157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0E7490"/>
                </a:solidFill>
                <a:latin typeface="Arial"/>
                <a:ea typeface="Arial"/>
                <a:cs typeface="Arial"/>
              </a:defRPr>
            </a:pPr>
            <a:r>
              <a:rPr sz="698" b="1">
                <a:solidFill>
                  <a:srgbClr val="0E7490"/>
                </a:solidFill>
                <a:latin typeface="Arial"/>
                <a:ea typeface="Arial"/>
                <a:cs typeface="Arial"/>
              </a:rPr>
              <a:t>FINAL TAKEAWAY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4F04676-E895-47E9-A5E0-A58B890D2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74295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23" b="1">
                <a:solidFill>
                  <a:srgbClr val="102A2D"/>
                </a:solidFill>
                <a:latin typeface="Arial"/>
                <a:ea typeface="Arial"/>
                <a:cs typeface="Arial"/>
              </a:defRPr>
            </a:pPr>
            <a:r>
              <a:rPr sz="1823" b="1">
                <a:solidFill>
                  <a:srgbClr val="102A2D"/>
                </a:solidFill>
                <a:latin typeface="Arial"/>
                <a:ea typeface="Arial"/>
                <a:cs typeface="Arial"/>
              </a:rPr>
              <a:t>Security review + what this app unlocks next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F836438-1880-4277-8BB5-B79331111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3" y="1181100"/>
            <a:ext cx="7762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60777A"/>
                </a:solidFill>
                <a:latin typeface="Arial"/>
                <a:ea typeface="Arial"/>
                <a:cs typeface="Arial"/>
              </a:defRPr>
            </a:pPr>
            <a:r>
              <a:rPr sz="855" b="0">
                <a:solidFill>
                  <a:srgbClr val="60777A"/>
                </a:solidFill>
                <a:latin typeface="Arial"/>
                <a:ea typeface="Arial"/>
                <a:cs typeface="Arial"/>
              </a:rPr>
              <a:t>ZK Backpack is secure enough to demo today, and flexible enough to become a credential and agent platform.</a:t>
            </a:r>
          </a:p>
        </p:txBody>
      </p:sp>
      <p:sp>
        <p:nvSpPr>
          <p:cNvPr id="6" name="Security review-panel">
            <a:extLst xmlns:a="http://schemas.openxmlformats.org/drawingml/2006/main">
              <a:ext uri="{FF2B5EF4-FFF2-40B4-BE49-F238E27FC236}">
                <a16:creationId xmlns:a16="http://schemas.microsoft.com/office/drawing/2014/main" id="{97728C83-ED06-4943-9A01-2081E7C56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3895725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FE0DE"/>
            </a:solidFill>
            <a:prstDash val="solid"/>
          </a:ln>
        </p:spPr>
      </p:sp>
      <p:sp>
        <p:nvSpPr>
          <p:cNvPr id="7" name="Security review-eyebrow">
            <a:extLst xmlns:a="http://schemas.openxmlformats.org/drawingml/2006/main">
              <a:ext uri="{FF2B5EF4-FFF2-40B4-BE49-F238E27FC236}">
                <a16:creationId xmlns:a16="http://schemas.microsoft.com/office/drawing/2014/main" id="{2818A417-ADB2-4D8A-8AC0-95243C638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34766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0" b="1">
                <a:solidFill>
                  <a:srgbClr val="0E7490"/>
                </a:solidFill>
                <a:latin typeface="Arial"/>
                <a:ea typeface="Arial"/>
                <a:cs typeface="Arial"/>
              </a:defRPr>
            </a:pPr>
            <a:r>
              <a:rPr sz="630" b="1">
                <a:solidFill>
                  <a:srgbClr val="0E7490"/>
                </a:solidFill>
                <a:latin typeface="Arial"/>
                <a:ea typeface="Arial"/>
                <a:cs typeface="Arial"/>
              </a:rPr>
              <a:t>CONTROLS ALREADY IN PLACE</a:t>
            </a:r>
          </a:p>
        </p:txBody>
      </p:sp>
      <p:sp>
        <p:nvSpPr>
          <p:cNvPr id="8" name="Security review-title">
            <a:extLst xmlns:a="http://schemas.openxmlformats.org/drawingml/2006/main">
              <a:ext uri="{FF2B5EF4-FFF2-40B4-BE49-F238E27FC236}">
                <a16:creationId xmlns:a16="http://schemas.microsoft.com/office/drawing/2014/main" id="{EBA4D92E-2646-48BF-9BB7-72EAB385B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62150"/>
            <a:ext cx="347662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2A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2A2D"/>
                </a:solidFill>
                <a:latin typeface="Arial"/>
                <a:ea typeface="Arial"/>
                <a:cs typeface="Arial"/>
              </a:rPr>
              <a:t>Security review</a:t>
            </a:r>
          </a:p>
        </p:txBody>
      </p:sp>
      <p:sp>
        <p:nvSpPr>
          <p:cNvPr id="9" name="Security review-rule">
            <a:extLst xmlns:a="http://schemas.openxmlformats.org/drawingml/2006/main">
              <a:ext uri="{FF2B5EF4-FFF2-40B4-BE49-F238E27FC236}">
                <a16:creationId xmlns:a16="http://schemas.microsoft.com/office/drawing/2014/main" id="{6A05C97B-FA84-46CE-94D3-849A1DE3F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76475"/>
            <a:ext cx="3476625" cy="8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EC"/>
          </a:solidFill>
          <a:ln xmlns:a="http://schemas.openxmlformats.org/drawingml/2006/main" w="9525">
            <a:solidFill>
              <a:srgbClr val="E4EEEC"/>
            </a:solidFill>
            <a:prstDash val="solid"/>
          </a:ln>
        </p:spPr>
      </p:sp>
      <p:sp>
        <p:nvSpPr>
          <p:cNvPr id="10" name="What we can do with this app-panel">
            <a:extLst xmlns:a="http://schemas.openxmlformats.org/drawingml/2006/main">
              <a:ext uri="{FF2B5EF4-FFF2-40B4-BE49-F238E27FC236}">
                <a16:creationId xmlns:a16="http://schemas.microsoft.com/office/drawing/2014/main" id="{8D7E50B1-5443-433D-B158-EDD58FA9F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1619250"/>
            <a:ext cx="3895725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FE0DE"/>
            </a:solidFill>
            <a:prstDash val="solid"/>
          </a:ln>
        </p:spPr>
      </p:sp>
      <p:sp>
        <p:nvSpPr>
          <p:cNvPr id="11" name="What we can do with this app-eyebrow">
            <a:extLst xmlns:a="http://schemas.openxmlformats.org/drawingml/2006/main">
              <a:ext uri="{FF2B5EF4-FFF2-40B4-BE49-F238E27FC236}">
                <a16:creationId xmlns:a16="http://schemas.microsoft.com/office/drawing/2014/main" id="{84707E9C-6A47-491B-9A39-05D6EADB3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790700"/>
            <a:ext cx="34766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0" b="1">
                <a:solidFill>
                  <a:srgbClr val="0E7490"/>
                </a:solidFill>
                <a:latin typeface="Arial"/>
                <a:ea typeface="Arial"/>
                <a:cs typeface="Arial"/>
              </a:defRPr>
            </a:pPr>
            <a:r>
              <a:rPr sz="630" b="1">
                <a:solidFill>
                  <a:srgbClr val="0E7490"/>
                </a:solidFill>
                <a:latin typeface="Arial"/>
                <a:ea typeface="Arial"/>
                <a:cs typeface="Arial"/>
              </a:rPr>
              <a:t>NEXT PLATFORM MOVES</a:t>
            </a:r>
          </a:p>
        </p:txBody>
      </p:sp>
      <p:sp>
        <p:nvSpPr>
          <p:cNvPr id="12" name="What we can do with this app-title">
            <a:extLst xmlns:a="http://schemas.openxmlformats.org/drawingml/2006/main">
              <a:ext uri="{FF2B5EF4-FFF2-40B4-BE49-F238E27FC236}">
                <a16:creationId xmlns:a16="http://schemas.microsoft.com/office/drawing/2014/main" id="{20229827-0E07-46A8-BFE3-91022ACD7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962150"/>
            <a:ext cx="347662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2A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2A2D"/>
                </a:solidFill>
                <a:latin typeface="Arial"/>
                <a:ea typeface="Arial"/>
                <a:cs typeface="Arial"/>
              </a:rPr>
              <a:t>What we can do with this app</a:t>
            </a:r>
          </a:p>
        </p:txBody>
      </p:sp>
      <p:sp>
        <p:nvSpPr>
          <p:cNvPr id="13" name="What we can do with this app-rule">
            <a:extLst xmlns:a="http://schemas.openxmlformats.org/drawingml/2006/main">
              <a:ext uri="{FF2B5EF4-FFF2-40B4-BE49-F238E27FC236}">
                <a16:creationId xmlns:a16="http://schemas.microsoft.com/office/drawing/2014/main" id="{93F522BF-6AC5-4601-805E-DCFB96554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276475"/>
            <a:ext cx="3476625" cy="8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EC"/>
          </a:solidFill>
          <a:ln xmlns:a="http://schemas.openxmlformats.org/drawingml/2006/main" w="9525">
            <a:solidFill>
              <a:srgbClr val="E4EEEC"/>
            </a:solidFill>
            <a:prstDash val="solid"/>
          </a:ln>
        </p:spPr>
      </p:sp>
      <p:sp>
        <p:nvSpPr>
          <p:cNvPr id="14" name="Local custody-label">
            <a:extLst xmlns:a="http://schemas.openxmlformats.org/drawingml/2006/main">
              <a:ext uri="{FF2B5EF4-FFF2-40B4-BE49-F238E27FC236}">
                <a16:creationId xmlns:a16="http://schemas.microsoft.com/office/drawing/2014/main" id="{E968FC0C-9153-4724-80FE-E39009622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95550"/>
            <a:ext cx="3476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102A2D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102A2D"/>
                </a:solidFill>
                <a:latin typeface="Arial"/>
                <a:ea typeface="Arial"/>
                <a:cs typeface="Arial"/>
              </a:rPr>
              <a:t>Local custody</a:t>
            </a:r>
          </a:p>
        </p:txBody>
      </p:sp>
      <p:sp>
        <p:nvSpPr>
          <p:cNvPr id="15" name="Local custody-body">
            <a:extLst xmlns:a="http://schemas.openxmlformats.org/drawingml/2006/main">
              <a:ext uri="{FF2B5EF4-FFF2-40B4-BE49-F238E27FC236}">
                <a16:creationId xmlns:a16="http://schemas.microsoft.com/office/drawing/2014/main" id="{0E8FF42A-0D14-4BE7-AB84-71498669E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76525"/>
            <a:ext cx="3476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77A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0777A"/>
                </a:solidFill>
                <a:latin typeface="Arial"/>
                <a:ea typeface="Arial"/>
                <a:cs typeface="Arial"/>
              </a:rPr>
              <a:t>Proofs start encrypted on-device; uploads happen only per share.</a:t>
            </a:r>
          </a:p>
        </p:txBody>
      </p:sp>
      <p:sp>
        <p:nvSpPr>
          <p:cNvPr id="16" name="security-row-1-rule">
            <a:extLst xmlns:a="http://schemas.openxmlformats.org/drawingml/2006/main">
              <a:ext uri="{FF2B5EF4-FFF2-40B4-BE49-F238E27FC236}">
                <a16:creationId xmlns:a16="http://schemas.microsoft.com/office/drawing/2014/main" id="{B4DECC09-C855-4034-8A18-3E2E07689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86075"/>
            <a:ext cx="3476625" cy="8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EC"/>
          </a:solidFill>
          <a:ln xmlns:a="http://schemas.openxmlformats.org/drawingml/2006/main" w="9525">
            <a:solidFill>
              <a:srgbClr val="E4EEEC"/>
            </a:solidFill>
            <a:prstDash val="solid"/>
          </a:ln>
        </p:spPr>
      </p:sp>
      <p:sp>
        <p:nvSpPr>
          <p:cNvPr id="17" name="Selective release-label">
            <a:extLst xmlns:a="http://schemas.openxmlformats.org/drawingml/2006/main">
              <a:ext uri="{FF2B5EF4-FFF2-40B4-BE49-F238E27FC236}">
                <a16:creationId xmlns:a16="http://schemas.microsoft.com/office/drawing/2014/main" id="{0C0BB46F-93E1-486E-87F9-C1B8B5CED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0375"/>
            <a:ext cx="3476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102A2D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102A2D"/>
                </a:solidFill>
                <a:latin typeface="Arial"/>
                <a:ea typeface="Arial"/>
                <a:cs typeface="Arial"/>
              </a:rPr>
              <a:t>Selective release</a:t>
            </a:r>
          </a:p>
        </p:txBody>
      </p:sp>
      <p:sp>
        <p:nvSpPr>
          <p:cNvPr id="18" name="Selective release-body">
            <a:extLst xmlns:a="http://schemas.openxmlformats.org/drawingml/2006/main">
              <a:ext uri="{FF2B5EF4-FFF2-40B4-BE49-F238E27FC236}">
                <a16:creationId xmlns:a16="http://schemas.microsoft.com/office/drawing/2014/main" id="{9DD0D04F-E56F-4122-9D5A-5FF816FBC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3476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77A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0777A"/>
                </a:solidFill>
                <a:latin typeface="Arial"/>
                <a:ea typeface="Arial"/>
                <a:cs typeface="Arial"/>
              </a:rPr>
              <a:t>Reveal exact fields or predicates instead of the full account payload.</a:t>
            </a:r>
          </a:p>
        </p:txBody>
      </p:sp>
      <p:sp>
        <p:nvSpPr>
          <p:cNvPr id="19" name="security-row-2-rule">
            <a:extLst xmlns:a="http://schemas.openxmlformats.org/drawingml/2006/main">
              <a:ext uri="{FF2B5EF4-FFF2-40B4-BE49-F238E27FC236}">
                <a16:creationId xmlns:a16="http://schemas.microsoft.com/office/drawing/2014/main" id="{7E19CAA4-5CE5-4ECA-9E20-149777926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90900"/>
            <a:ext cx="3476625" cy="8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EC"/>
          </a:solidFill>
          <a:ln xmlns:a="http://schemas.openxmlformats.org/drawingml/2006/main" w="9525">
            <a:solidFill>
              <a:srgbClr val="E4EEEC"/>
            </a:solidFill>
            <a:prstDash val="solid"/>
          </a:ln>
        </p:spPr>
      </p:sp>
      <p:sp>
        <p:nvSpPr>
          <p:cNvPr id="20" name="Share gates-label">
            <a:extLst xmlns:a="http://schemas.openxmlformats.org/drawingml/2006/main">
              <a:ext uri="{FF2B5EF4-FFF2-40B4-BE49-F238E27FC236}">
                <a16:creationId xmlns:a16="http://schemas.microsoft.com/office/drawing/2014/main" id="{6BDFCBFD-D716-41F9-8411-5142ED382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05200"/>
            <a:ext cx="3476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2F5BFF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2F5BFF"/>
                </a:solidFill>
                <a:latin typeface="Arial"/>
                <a:ea typeface="Arial"/>
                <a:cs typeface="Arial"/>
              </a:rPr>
              <a:t>Share gates</a:t>
            </a:r>
          </a:p>
        </p:txBody>
      </p:sp>
      <p:sp>
        <p:nvSpPr>
          <p:cNvPr id="21" name="Share gates-body">
            <a:extLst xmlns:a="http://schemas.openxmlformats.org/drawingml/2006/main">
              <a:ext uri="{FF2B5EF4-FFF2-40B4-BE49-F238E27FC236}">
                <a16:creationId xmlns:a16="http://schemas.microsoft.com/office/drawing/2014/main" id="{610C2F2F-F0CE-4B33-8F0F-43CBA37C2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86175"/>
            <a:ext cx="3476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77A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0777A"/>
                </a:solidFill>
                <a:latin typeface="Arial"/>
                <a:ea typeface="Arial"/>
                <a:cs typeface="Arial"/>
              </a:rPr>
              <a:t>One-time links, max views, expiry, and revoke keep users in control.</a:t>
            </a:r>
          </a:p>
        </p:txBody>
      </p:sp>
      <p:sp>
        <p:nvSpPr>
          <p:cNvPr id="22" name="security-row-3-rule">
            <a:extLst xmlns:a="http://schemas.openxmlformats.org/drawingml/2006/main">
              <a:ext uri="{FF2B5EF4-FFF2-40B4-BE49-F238E27FC236}">
                <a16:creationId xmlns:a16="http://schemas.microsoft.com/office/drawing/2014/main" id="{2B48F06F-6EEE-4390-B6E5-47991D758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95725"/>
            <a:ext cx="3476625" cy="8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EC"/>
          </a:solidFill>
          <a:ln xmlns:a="http://schemas.openxmlformats.org/drawingml/2006/main" w="9525">
            <a:solidFill>
              <a:srgbClr val="E4EEEC"/>
            </a:solidFill>
            <a:prstDash val="solid"/>
          </a:ln>
        </p:spPr>
      </p:sp>
      <p:sp>
        <p:nvSpPr>
          <p:cNvPr id="23" name="Verified receipts-label">
            <a:extLst xmlns:a="http://schemas.openxmlformats.org/drawingml/2006/main">
              <a:ext uri="{FF2B5EF4-FFF2-40B4-BE49-F238E27FC236}">
                <a16:creationId xmlns:a16="http://schemas.microsoft.com/office/drawing/2014/main" id="{92AB8985-FF5B-40FD-A6C5-136C9FC0E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0025"/>
            <a:ext cx="3476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102A2D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102A2D"/>
                </a:solidFill>
                <a:latin typeface="Arial"/>
                <a:ea typeface="Arial"/>
                <a:cs typeface="Arial"/>
              </a:rPr>
              <a:t>Verified receipts</a:t>
            </a:r>
          </a:p>
        </p:txBody>
      </p:sp>
      <p:sp>
        <p:nvSpPr>
          <p:cNvPr id="24" name="Verified receipts-body">
            <a:extLst xmlns:a="http://schemas.openxmlformats.org/drawingml/2006/main">
              <a:ext uri="{FF2B5EF4-FFF2-40B4-BE49-F238E27FC236}">
                <a16:creationId xmlns:a16="http://schemas.microsoft.com/office/drawing/2014/main" id="{BE113F44-B8D9-480F-AE2D-6D7E02038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0"/>
            <a:ext cx="3476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77A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0777A"/>
                </a:solidFill>
                <a:latin typeface="Arial"/>
                <a:ea typeface="Arial"/>
                <a:cs typeface="Arial"/>
              </a:rPr>
              <a:t>TLSNotary checks run before claims render; receipts make proof replayable.</a:t>
            </a:r>
          </a:p>
        </p:txBody>
      </p:sp>
      <p:sp>
        <p:nvSpPr>
          <p:cNvPr id="25" name="OpenID4VP/DCQL-label">
            <a:extLst xmlns:a="http://schemas.openxmlformats.org/drawingml/2006/main">
              <a:ext uri="{FF2B5EF4-FFF2-40B4-BE49-F238E27FC236}">
                <a16:creationId xmlns:a16="http://schemas.microsoft.com/office/drawing/2014/main" id="{B71FEB60-8953-4E89-8097-951CA14D6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495550"/>
            <a:ext cx="3476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2F5BFF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2F5BFF"/>
                </a:solidFill>
                <a:latin typeface="Arial"/>
                <a:ea typeface="Arial"/>
                <a:cs typeface="Arial"/>
              </a:rPr>
              <a:t>OpenID4VP/DCQL</a:t>
            </a:r>
          </a:p>
        </p:txBody>
      </p:sp>
      <p:sp>
        <p:nvSpPr>
          <p:cNvPr id="26" name="OpenID4VP/DCQL-body">
            <a:extLst xmlns:a="http://schemas.openxmlformats.org/drawingml/2006/main">
              <a:ext uri="{FF2B5EF4-FFF2-40B4-BE49-F238E27FC236}">
                <a16:creationId xmlns:a16="http://schemas.microsoft.com/office/drawing/2014/main" id="{C04FF90C-354E-4D56-8EB3-BD7C7517B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676525"/>
            <a:ext cx="3476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77A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0777A"/>
                </a:solidFill>
                <a:latin typeface="Arial"/>
                <a:ea typeface="Arial"/>
                <a:cs typeface="Arial"/>
              </a:rPr>
              <a:t>Verifiers request facts by QR/link; Backpack answers from the vault.</a:t>
            </a:r>
          </a:p>
        </p:txBody>
      </p:sp>
      <p:sp>
        <p:nvSpPr>
          <p:cNvPr id="27" name="next-row-1-rule">
            <a:extLst xmlns:a="http://schemas.openxmlformats.org/drawingml/2006/main">
              <a:ext uri="{FF2B5EF4-FFF2-40B4-BE49-F238E27FC236}">
                <a16:creationId xmlns:a16="http://schemas.microsoft.com/office/drawing/2014/main" id="{0C03B31E-5C70-4C9D-AA4E-769E1CF5F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886075"/>
            <a:ext cx="3476625" cy="8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EC"/>
          </a:solidFill>
          <a:ln xmlns:a="http://schemas.openxmlformats.org/drawingml/2006/main" w="9525">
            <a:solidFill>
              <a:srgbClr val="E4EEEC"/>
            </a:solidFill>
            <a:prstDash val="solid"/>
          </a:ln>
        </p:spPr>
      </p:sp>
      <p:sp>
        <p:nvSpPr>
          <p:cNvPr id="28" name="Offline receipts-label">
            <a:extLst xmlns:a="http://schemas.openxmlformats.org/drawingml/2006/main">
              <a:ext uri="{FF2B5EF4-FFF2-40B4-BE49-F238E27FC236}">
                <a16:creationId xmlns:a16="http://schemas.microsoft.com/office/drawing/2014/main" id="{3BC4EACA-0740-4F17-ACBC-44DC8C2F2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000375"/>
            <a:ext cx="3476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102A2D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102A2D"/>
                </a:solidFill>
                <a:latin typeface="Arial"/>
                <a:ea typeface="Arial"/>
                <a:cs typeface="Arial"/>
              </a:rPr>
              <a:t>Offline receipts</a:t>
            </a:r>
          </a:p>
        </p:txBody>
      </p:sp>
      <p:sp>
        <p:nvSpPr>
          <p:cNvPr id="29" name="Offline receipts-body">
            <a:extLst xmlns:a="http://schemas.openxmlformats.org/drawingml/2006/main">
              <a:ext uri="{FF2B5EF4-FFF2-40B4-BE49-F238E27FC236}">
                <a16:creationId xmlns:a16="http://schemas.microsoft.com/office/drawing/2014/main" id="{EB0A44DE-8EA5-4527-A30C-C308B81CB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181350"/>
            <a:ext cx="3476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77A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0777A"/>
                </a:solidFill>
                <a:latin typeface="Arial"/>
                <a:ea typeface="Arial"/>
                <a:cs typeface="Arial"/>
              </a:rPr>
              <a:t>Ed25519/JWKS receipts can verify later without calling the server.</a:t>
            </a:r>
          </a:p>
        </p:txBody>
      </p:sp>
      <p:sp>
        <p:nvSpPr>
          <p:cNvPr id="30" name="next-row-2-rule">
            <a:extLst xmlns:a="http://schemas.openxmlformats.org/drawingml/2006/main">
              <a:ext uri="{FF2B5EF4-FFF2-40B4-BE49-F238E27FC236}">
                <a16:creationId xmlns:a16="http://schemas.microsoft.com/office/drawing/2014/main" id="{B0827139-DD8E-440A-ACD3-C73F71CF8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390900"/>
            <a:ext cx="3476625" cy="8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EC"/>
          </a:solidFill>
          <a:ln xmlns:a="http://schemas.openxmlformats.org/drawingml/2006/main" w="9525">
            <a:solidFill>
              <a:srgbClr val="E4EEEC"/>
            </a:solidFill>
            <a:prstDash val="solid"/>
          </a:ln>
        </p:spPr>
      </p:sp>
      <p:sp>
        <p:nvSpPr>
          <p:cNvPr id="31" name="Proof bundles-label">
            <a:extLst xmlns:a="http://schemas.openxmlformats.org/drawingml/2006/main">
              <a:ext uri="{FF2B5EF4-FFF2-40B4-BE49-F238E27FC236}">
                <a16:creationId xmlns:a16="http://schemas.microsoft.com/office/drawing/2014/main" id="{98EC51C6-07D0-4304-9981-6C7C00972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505200"/>
            <a:ext cx="3476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102A2D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102A2D"/>
                </a:solidFill>
                <a:latin typeface="Arial"/>
                <a:ea typeface="Arial"/>
                <a:cs typeface="Arial"/>
              </a:rPr>
              <a:t>Proof bundles</a:t>
            </a:r>
          </a:p>
        </p:txBody>
      </p:sp>
      <p:sp>
        <p:nvSpPr>
          <p:cNvPr id="32" name="Proof bundles-body">
            <a:extLst xmlns:a="http://schemas.openxmlformats.org/drawingml/2006/main">
              <a:ext uri="{FF2B5EF4-FFF2-40B4-BE49-F238E27FC236}">
                <a16:creationId xmlns:a16="http://schemas.microsoft.com/office/drawing/2014/main" id="{3D23448F-BA0D-460B-AFD1-564177AFB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686175"/>
            <a:ext cx="3476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77A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0777A"/>
                </a:solidFill>
                <a:latin typeface="Arial"/>
                <a:ea typeface="Arial"/>
                <a:cs typeface="Arial"/>
              </a:rPr>
              <a:t>One share can combine age, work, income, and reputation checks.</a:t>
            </a:r>
          </a:p>
        </p:txBody>
      </p:sp>
      <p:sp>
        <p:nvSpPr>
          <p:cNvPr id="33" name="next-row-3-rule">
            <a:extLst xmlns:a="http://schemas.openxmlformats.org/drawingml/2006/main">
              <a:ext uri="{FF2B5EF4-FFF2-40B4-BE49-F238E27FC236}">
                <a16:creationId xmlns:a16="http://schemas.microsoft.com/office/drawing/2014/main" id="{A1A0FB46-9957-4EB9-80C7-26D120C65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895725"/>
            <a:ext cx="3476625" cy="8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EC"/>
          </a:solidFill>
          <a:ln xmlns:a="http://schemas.openxmlformats.org/drawingml/2006/main" w="9525">
            <a:solidFill>
              <a:srgbClr val="E4EEEC"/>
            </a:solidFill>
            <a:prstDash val="solid"/>
          </a:ln>
        </p:spPr>
      </p:sp>
      <p:sp>
        <p:nvSpPr>
          <p:cNvPr id="34" name="MCP server-label">
            <a:extLst xmlns:a="http://schemas.openxmlformats.org/drawingml/2006/main">
              <a:ext uri="{FF2B5EF4-FFF2-40B4-BE49-F238E27FC236}">
                <a16:creationId xmlns:a16="http://schemas.microsoft.com/office/drawing/2014/main" id="{E4C30CE4-6BA3-4D29-8924-5AFA241A4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010025"/>
            <a:ext cx="3476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102A2D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102A2D"/>
                </a:solidFill>
                <a:latin typeface="Arial"/>
                <a:ea typeface="Arial"/>
                <a:cs typeface="Arial"/>
              </a:rPr>
              <a:t>MCP server</a:t>
            </a:r>
          </a:p>
        </p:txBody>
      </p:sp>
      <p:sp>
        <p:nvSpPr>
          <p:cNvPr id="35" name="MCP server-body">
            <a:extLst xmlns:a="http://schemas.openxmlformats.org/drawingml/2006/main">
              <a:ext uri="{FF2B5EF4-FFF2-40B4-BE49-F238E27FC236}">
                <a16:creationId xmlns:a16="http://schemas.microsoft.com/office/drawing/2014/main" id="{48D163FA-2425-4D58-A09C-9034CC37B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191000"/>
            <a:ext cx="3476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77A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0777A"/>
                </a:solidFill>
                <a:latin typeface="Arial"/>
                <a:ea typeface="Arial"/>
                <a:cs typeface="Arial"/>
              </a:rPr>
              <a:t>Agents and developer tools request scoped proofs through a simple API.</a:t>
            </a:r>
          </a:p>
        </p:txBody>
      </p:sp>
      <p:sp>
        <p:nvSpPr>
          <p:cNvPr id="3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E493B46-6215-49A3-A9FA-DDE3C6AFE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2488" y="4857750"/>
            <a:ext cx="2095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488" b="0">
                <a:solidFill>
                  <a:srgbClr val="60777A"/>
                </a:solidFill>
                <a:latin typeface="Arial"/>
                <a:ea typeface="Arial"/>
                <a:cs typeface="Arial"/>
              </a:defRPr>
            </a:pPr>
            <a:r>
              <a:rPr sz="488" b="0">
                <a:solidFill>
                  <a:srgbClr val="60777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92861313"/>
      </p:ext>
    </p:extLst>
  </p:cSld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2026-05-27T14:27:45.0480000Z</dcterms:created>
  <dcterms:modified xsi:type="dcterms:W3CDTF">2026-05-27T14:27:45.0480000Z</dcterms:modified>
</coreProperties>
</file>